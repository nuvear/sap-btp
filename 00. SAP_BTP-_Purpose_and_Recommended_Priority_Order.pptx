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256000" cy="9144000"/>
  <p:notesSz cx="9144000" cy="16256000"/>
  <p:embeddedFontLst>
    <p:embeddedFont>
      <p:font typeface="Montserrat" charset="-122" pitchFamily="34"/>
      <p:regular r:id="rId8"/>
    </p:embeddedFont>
    <p:embeddedFont>
      <p:font typeface="Inter" charset="-122" pitchFamily="34"/>
      <p:regular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ap.com/products/technology-platform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tp_purpose-text-1"/>
          <p:cNvSpPr/>
          <p:nvPr/>
        </p:nvSpPr>
        <p:spPr>
          <a:xfrm>
            <a:off x="762000" y="4572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b="1" dirty="0">
                <a:solidFill>
                  <a:srgbClr val="0B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SAP BTP: Purpose and Priority Sequence</a:t>
            </a:r>
            <a:endParaRPr lang="en-US" sz="3800" dirty="0"/>
          </a:p>
        </p:txBody>
      </p:sp>
      <p:sp>
        <p:nvSpPr>
          <p:cNvPr id="3" name="btp_purpose-text-2"/>
          <p:cNvSpPr/>
          <p:nvPr/>
        </p:nvSpPr>
        <p:spPr>
          <a:xfrm>
            <a:off x="762000" y="1168400"/>
            <a:ext cx="1346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4A5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practical implementation order for building an integrated, governed, and AI-ready enterprise landscape.</a:t>
            </a:r>
            <a:endParaRPr lang="en-US" sz="1800" dirty="0"/>
          </a:p>
        </p:txBody>
      </p:sp>
      <p:sp>
        <p:nvSpPr>
          <p:cNvPr id="4" name="btp_purpose-shape-3"/>
          <p:cNvSpPr/>
          <p:nvPr/>
        </p:nvSpPr>
        <p:spPr>
          <a:xfrm>
            <a:off x="762000" y="1905000"/>
            <a:ext cx="14732000" cy="9144"/>
          </a:xfrm>
          <a:prstGeom prst="line">
            <a:avLst/>
          </a:prstGeom>
          <a:ln w="25400">
            <a:solidFill>
              <a:srgbClr val="007A78"/>
            </a:solidFill>
            <a:prstDash val="solid"/>
          </a:ln>
        </p:spPr>
      </p:sp>
      <p:sp>
        <p:nvSpPr>
          <p:cNvPr id="5" name="btp_purpose-text-4"/>
          <p:cNvSpPr/>
          <p:nvPr/>
        </p:nvSpPr>
        <p:spPr>
          <a:xfrm>
            <a:off x="762000" y="2260600"/>
            <a:ext cx="889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3800" b="1" dirty="0">
                <a:solidFill>
                  <a:srgbClr val="F26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btp_purpose-text-5"/>
          <p:cNvSpPr/>
          <p:nvPr/>
        </p:nvSpPr>
        <p:spPr>
          <a:xfrm>
            <a:off x="1905000" y="2286000"/>
            <a:ext cx="533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B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the core and platform foundation</a:t>
            </a:r>
            <a:endParaRPr lang="en-US" sz="2500" dirty="0"/>
          </a:p>
        </p:txBody>
      </p:sp>
      <p:sp>
        <p:nvSpPr>
          <p:cNvPr id="7" name="btp_purpose-text-6"/>
          <p:cNvSpPr/>
          <p:nvPr/>
        </p:nvSpPr>
        <p:spPr>
          <a:xfrm>
            <a:off x="1905000" y="2768600"/>
            <a:ext cx="1257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4A5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the shared cloud foundation for identity, security, deployment, operations, and lifecycle management so teams can build safely without modifying core systems.</a:t>
            </a:r>
            <a:endParaRPr lang="en-US" sz="1700" dirty="0"/>
          </a:p>
        </p:txBody>
      </p:sp>
      <p:sp>
        <p:nvSpPr>
          <p:cNvPr id="8" name="btp_purpose-shape-7"/>
          <p:cNvSpPr/>
          <p:nvPr/>
        </p:nvSpPr>
        <p:spPr>
          <a:xfrm>
            <a:off x="1905000" y="3479800"/>
            <a:ext cx="12573000" cy="9144"/>
          </a:xfrm>
          <a:prstGeom prst="line">
            <a:avLst/>
          </a:prstGeom>
          <a:ln w="12700">
            <a:solidFill>
              <a:srgbClr val="007A78"/>
            </a:solidFill>
            <a:prstDash val="solid"/>
          </a:ln>
        </p:spPr>
      </p:sp>
      <p:sp>
        <p:nvSpPr>
          <p:cNvPr id="9" name="btp_purpose-text-8"/>
          <p:cNvSpPr/>
          <p:nvPr/>
        </p:nvSpPr>
        <p:spPr>
          <a:xfrm>
            <a:off x="762000" y="3708400"/>
            <a:ext cx="889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3800" b="1" dirty="0">
                <a:solidFill>
                  <a:srgbClr val="F26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800" dirty="0"/>
          </a:p>
        </p:txBody>
      </p:sp>
      <p:sp>
        <p:nvSpPr>
          <p:cNvPr id="10" name="btp_purpose-text-9"/>
          <p:cNvSpPr/>
          <p:nvPr/>
        </p:nvSpPr>
        <p:spPr>
          <a:xfrm>
            <a:off x="1905000" y="3733800"/>
            <a:ext cx="533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B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the enterprise landscape</a:t>
            </a:r>
            <a:endParaRPr lang="en-US" sz="2500" dirty="0"/>
          </a:p>
        </p:txBody>
      </p:sp>
      <p:sp>
        <p:nvSpPr>
          <p:cNvPr id="11" name="btp_purpose-text-10"/>
          <p:cNvSpPr/>
          <p:nvPr/>
        </p:nvSpPr>
        <p:spPr>
          <a:xfrm>
            <a:off x="1905000" y="4216400"/>
            <a:ext cx="1257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4A5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SAP and non-SAP applications, APIs, events, and processes to eliminate fragmentation and enable end-to-end visibility.</a:t>
            </a:r>
            <a:endParaRPr lang="en-US" sz="1700" dirty="0"/>
          </a:p>
        </p:txBody>
      </p:sp>
      <p:sp>
        <p:nvSpPr>
          <p:cNvPr id="12" name="btp_purpose-shape-11"/>
          <p:cNvSpPr/>
          <p:nvPr/>
        </p:nvSpPr>
        <p:spPr>
          <a:xfrm>
            <a:off x="1905000" y="4927600"/>
            <a:ext cx="12573000" cy="9144"/>
          </a:xfrm>
          <a:prstGeom prst="line">
            <a:avLst/>
          </a:prstGeom>
          <a:ln w="12700">
            <a:solidFill>
              <a:srgbClr val="007A78"/>
            </a:solidFill>
            <a:prstDash val="solid"/>
          </a:ln>
        </p:spPr>
      </p:sp>
      <p:sp>
        <p:nvSpPr>
          <p:cNvPr id="13" name="btp_purpose-text-12"/>
          <p:cNvSpPr/>
          <p:nvPr/>
        </p:nvSpPr>
        <p:spPr>
          <a:xfrm>
            <a:off x="762000" y="5156200"/>
            <a:ext cx="889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3800" b="1" dirty="0">
                <a:solidFill>
                  <a:srgbClr val="F26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btp_purpose-text-13"/>
          <p:cNvSpPr/>
          <p:nvPr/>
        </p:nvSpPr>
        <p:spPr>
          <a:xfrm>
            <a:off x="1905000" y="5181600"/>
            <a:ext cx="533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B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Unify business data and context</a:t>
            </a:r>
            <a:endParaRPr lang="en-US" sz="2500" dirty="0"/>
          </a:p>
        </p:txBody>
      </p:sp>
      <p:sp>
        <p:nvSpPr>
          <p:cNvPr id="15" name="btp_purpose-text-14"/>
          <p:cNvSpPr/>
          <p:nvPr/>
        </p:nvSpPr>
        <p:spPr>
          <a:xfrm>
            <a:off x="1905000" y="5664200"/>
            <a:ext cx="1257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4A5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relevant business data together for analytics, applications, and informed decision-making across the organization.</a:t>
            </a:r>
            <a:endParaRPr lang="en-US" sz="1700" dirty="0"/>
          </a:p>
        </p:txBody>
      </p:sp>
      <p:sp>
        <p:nvSpPr>
          <p:cNvPr id="16" name="btp_purpose-shape-15"/>
          <p:cNvSpPr/>
          <p:nvPr/>
        </p:nvSpPr>
        <p:spPr>
          <a:xfrm>
            <a:off x="1905000" y="6375400"/>
            <a:ext cx="12573000" cy="9144"/>
          </a:xfrm>
          <a:prstGeom prst="line">
            <a:avLst/>
          </a:prstGeom>
          <a:ln w="12700">
            <a:solidFill>
              <a:srgbClr val="007A78"/>
            </a:solidFill>
            <a:prstDash val="solid"/>
          </a:ln>
        </p:spPr>
      </p:sp>
      <p:sp>
        <p:nvSpPr>
          <p:cNvPr id="17" name="btp_purpose-text-16"/>
          <p:cNvSpPr/>
          <p:nvPr/>
        </p:nvSpPr>
        <p:spPr>
          <a:xfrm>
            <a:off x="762000" y="6604000"/>
            <a:ext cx="889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3800" b="1" dirty="0">
                <a:solidFill>
                  <a:srgbClr val="F26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800" dirty="0"/>
          </a:p>
        </p:txBody>
      </p:sp>
      <p:sp>
        <p:nvSpPr>
          <p:cNvPr id="18" name="btp_purpose-text-17"/>
          <p:cNvSpPr/>
          <p:nvPr/>
        </p:nvSpPr>
        <p:spPr>
          <a:xfrm>
            <a:off x="1905000" y="6629400"/>
            <a:ext cx="533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B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business processes</a:t>
            </a:r>
            <a:endParaRPr lang="en-US" sz="2500" dirty="0"/>
          </a:p>
        </p:txBody>
      </p:sp>
      <p:sp>
        <p:nvSpPr>
          <p:cNvPr id="19" name="btp_purpose-text-18"/>
          <p:cNvSpPr/>
          <p:nvPr/>
        </p:nvSpPr>
        <p:spPr>
          <a:xfrm>
            <a:off x="1905000" y="7112000"/>
            <a:ext cx="1257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4A5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manual handoffs and repetitive approvals with governed, reusable workflows and automated tasks.</a:t>
            </a:r>
            <a:endParaRPr lang="en-US" sz="1700" dirty="0"/>
          </a:p>
        </p:txBody>
      </p:sp>
      <p:sp>
        <p:nvSpPr>
          <p:cNvPr id="20" name="btp_purpose-shape-19"/>
          <p:cNvSpPr/>
          <p:nvPr/>
        </p:nvSpPr>
        <p:spPr>
          <a:xfrm>
            <a:off x="1905000" y="7823200"/>
            <a:ext cx="12573000" cy="9144"/>
          </a:xfrm>
          <a:prstGeom prst="line">
            <a:avLst/>
          </a:prstGeom>
          <a:ln w="12700">
            <a:solidFill>
              <a:srgbClr val="007A78"/>
            </a:solidFill>
            <a:prstDash val="solid"/>
          </a:ln>
        </p:spPr>
      </p:sp>
      <p:sp>
        <p:nvSpPr>
          <p:cNvPr id="21" name="btp_purpose-text-20"/>
          <p:cNvSpPr/>
          <p:nvPr/>
        </p:nvSpPr>
        <p:spPr>
          <a:xfrm>
            <a:off x="762000" y="8051800"/>
            <a:ext cx="889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3800" b="1" dirty="0">
                <a:solidFill>
                  <a:srgbClr val="F26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800" dirty="0"/>
          </a:p>
        </p:txBody>
      </p:sp>
      <p:sp>
        <p:nvSpPr>
          <p:cNvPr id="22" name="btp_purpose-text-21"/>
          <p:cNvSpPr/>
          <p:nvPr/>
        </p:nvSpPr>
        <p:spPr>
          <a:xfrm>
            <a:off x="1905000" y="8077200"/>
            <a:ext cx="533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B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 governed AI innovation</a:t>
            </a:r>
            <a:endParaRPr lang="en-US" sz="2500" dirty="0"/>
          </a:p>
        </p:txBody>
      </p:sp>
      <p:sp>
        <p:nvSpPr>
          <p:cNvPr id="23" name="btp_purpose-text-22"/>
          <p:cNvSpPr/>
          <p:nvPr/>
        </p:nvSpPr>
        <p:spPr>
          <a:xfrm>
            <a:off x="1905000" y="8559800"/>
            <a:ext cx="1257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4A5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platform to develop AI-enabled applications and agents grounded in approved business context.</a:t>
            </a:r>
            <a:endParaRPr lang="en-US" sz="1700" dirty="0"/>
          </a:p>
        </p:txBody>
      </p:sp>
      <p:sp>
        <p:nvSpPr>
          <p:cNvPr id="24" name="btp_purpose-shape-23"/>
          <p:cNvSpPr/>
          <p:nvPr/>
        </p:nvSpPr>
        <p:spPr>
          <a:xfrm>
            <a:off x="762000" y="8712200"/>
            <a:ext cx="14732000" cy="9144"/>
          </a:xfrm>
          <a:prstGeom prst="line">
            <a:avLst/>
          </a:prstGeom>
          <a:ln w="25400">
            <a:solidFill>
              <a:srgbClr val="007A78"/>
            </a:solidFill>
            <a:prstDash val="solid"/>
          </a:ln>
        </p:spPr>
      </p:sp>
      <p:sp>
        <p:nvSpPr>
          <p:cNvPr id="25" name="btp_purpose-text-24"/>
          <p:cNvSpPr/>
          <p:nvPr/>
        </p:nvSpPr>
        <p:spPr>
          <a:xfrm>
            <a:off x="762000" y="8839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4A5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Rajkumar Rajagobalan</a:t>
            </a:r>
            <a:endParaRPr lang="en-US" sz="1200" dirty="0"/>
          </a:p>
        </p:txBody>
      </p:sp>
      <p:sp>
        <p:nvSpPr>
          <p:cNvPr id="26" name="btp_purpose-text-25"/>
          <p:cNvSpPr/>
          <p:nvPr/>
        </p:nvSpPr>
        <p:spPr>
          <a:xfrm>
            <a:off x="9906000" y="8839200"/>
            <a:ext cx="558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A5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</a:t>
            </a:r>
            <a:r>
              <a:rPr lang="en-US" altLang="en-US" sz="1200" u="sng" dirty="0">
                <a:solidFill>
                  <a:srgbClr val="007A7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 BTP Product Page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BTP: Purpose and Recommended Priority Order</dc:title>
  <dc:subject>SAP BTP: Purpose and Recommended Priority Order</dc:subject>
  <dc:creator>Manus</dc:creator>
  <cp:lastModifiedBy>Manus</cp:lastModifiedBy>
  <cp:revision>1</cp:revision>
  <dcterms:created xsi:type="dcterms:W3CDTF">2026-09-17T08:23:00Z</dcterms:created>
  <dcterms:modified xsi:type="dcterms:W3CDTF">2026-09-17T08:23:00Z</dcterms:modified>
</cp:coreProperties>
</file>