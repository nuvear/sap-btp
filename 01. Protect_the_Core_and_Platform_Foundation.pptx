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Inter" charset="-122" pitchFamily="34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1270000" y="2159000"/>
            <a:ext cx="2540000" cy="9144"/>
          </a:xfrm>
          <a:prstGeom prst="line">
            <a:avLst/>
          </a:prstGeom>
          <a:ln w="101600">
            <a:solidFill>
              <a:srgbClr val="0F766E"/>
            </a:solidFill>
            <a:prstDash val="solid"/>
          </a:ln>
        </p:spPr>
      </p:sp>
      <p:sp>
        <p:nvSpPr>
          <p:cNvPr id="3" name="cover-text-2"/>
          <p:cNvSpPr/>
          <p:nvPr/>
        </p:nvSpPr>
        <p:spPr>
          <a:xfrm>
            <a:off x="1270000" y="28575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alt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the Core and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alt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Foundation</a:t>
            </a:r>
            <a:endParaRPr lang="en-US" sz="4800" dirty="0"/>
          </a:p>
        </p:txBody>
      </p:sp>
      <p:sp>
        <p:nvSpPr>
          <p:cNvPr id="4" name="cover-text-3"/>
          <p:cNvSpPr/>
          <p:nvPr/>
        </p:nvSpPr>
        <p:spPr>
          <a:xfrm>
            <a:off x="1270000" y="48260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altLang="en-US" sz="2200" dirty="0">
                <a:solidFill>
                  <a:srgbClr val="EAE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innovate around mission-critical SAP systems while maintaining stability, security, and upgrade readiness.</a:t>
            </a:r>
            <a:endParaRPr lang="en-US" sz="2200" dirty="0"/>
          </a:p>
        </p:txBody>
      </p:sp>
      <p:sp>
        <p:nvSpPr>
          <p:cNvPr id="5" name="cover-shape-4"/>
          <p:cNvSpPr/>
          <p:nvPr/>
        </p:nvSpPr>
        <p:spPr>
          <a:xfrm>
            <a:off x="1270000" y="6350000"/>
            <a:ext cx="3810000" cy="10160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6" name="cover-text-5"/>
          <p:cNvSpPr/>
          <p:nvPr/>
        </p:nvSpPr>
        <p:spPr>
          <a:xfrm>
            <a:off x="1651000" y="6578600"/>
            <a:ext cx="304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1 • Clean Core Strategy</a:t>
            </a:r>
            <a:endParaRPr lang="en-US" sz="1800" dirty="0"/>
          </a:p>
        </p:txBody>
      </p:sp>
      <p:sp>
        <p:nvSpPr>
          <p:cNvPr id="7" name="cover-text-6"/>
          <p:cNvSpPr/>
          <p:nvPr/>
        </p:nvSpPr>
        <p:spPr>
          <a:xfrm>
            <a:off x="1270000" y="812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AE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Rajkumar Rajagobalan</a:t>
            </a:r>
            <a:endParaRPr lang="en-US" sz="1400" dirty="0"/>
          </a:p>
        </p:txBody>
      </p:sp>
      <p:sp>
        <p:nvSpPr>
          <p:cNvPr id="8" name="cover-shape-7"/>
          <p:cNvSpPr/>
          <p:nvPr/>
        </p:nvSpPr>
        <p:spPr>
          <a:xfrm>
            <a:off x="11938000" y="1524000"/>
            <a:ext cx="3302000" cy="6096000"/>
          </a:xfrm>
          <a:prstGeom prst="roundRect">
            <a:avLst>
              <a:gd name="adj" fmla="val 3077"/>
            </a:avLst>
          </a:prstGeom>
          <a:ln w="38100">
            <a:solidFill>
              <a:srgbClr val="EAB308"/>
            </a:solidFill>
            <a:prstDash val="solid"/>
          </a:ln>
        </p:spPr>
      </p:sp>
      <p:sp>
        <p:nvSpPr>
          <p:cNvPr id="9" name="cover-text-8"/>
          <p:cNvSpPr/>
          <p:nvPr/>
        </p:nvSpPr>
        <p:spPr>
          <a:xfrm>
            <a:off x="11938000" y="21590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</a:t>
            </a:r>
            <a:endParaRPr lang="en-US" sz="2000" dirty="0"/>
          </a:p>
        </p:txBody>
      </p:sp>
      <p:sp>
        <p:nvSpPr>
          <p:cNvPr id="10" name="cover-text-9"/>
          <p:cNvSpPr/>
          <p:nvPr/>
        </p:nvSpPr>
        <p:spPr>
          <a:xfrm>
            <a:off x="11938000" y="31750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Extensible</a:t>
            </a:r>
            <a:endParaRPr lang="en-US" sz="2000" dirty="0"/>
          </a:p>
        </p:txBody>
      </p:sp>
      <p:sp>
        <p:nvSpPr>
          <p:cNvPr id="11" name="cover-text-10"/>
          <p:cNvSpPr/>
          <p:nvPr/>
        </p:nvSpPr>
        <p:spPr>
          <a:xfrm>
            <a:off x="11938000" y="41910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e_definition-text-1"/>
          <p:cNvSpPr/>
          <p:nvPr/>
        </p:nvSpPr>
        <p:spPr>
          <a:xfrm>
            <a:off x="508000" y="406400"/>
            <a:ext cx="1270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business core?</a:t>
            </a:r>
            <a:endParaRPr lang="en-US" sz="3000" dirty="0"/>
          </a:p>
        </p:txBody>
      </p:sp>
      <p:sp>
        <p:nvSpPr>
          <p:cNvPr id="3" name="core_definition-text-2"/>
          <p:cNvSpPr/>
          <p:nvPr/>
        </p:nvSpPr>
        <p:spPr>
          <a:xfrm>
            <a:off x="508000" y="101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systems of record for authoritative transactions and critical business processes.</a:t>
            </a:r>
            <a:endParaRPr lang="en-US" sz="1800" dirty="0"/>
          </a:p>
        </p:txBody>
      </p:sp>
      <p:sp>
        <p:nvSpPr>
          <p:cNvPr id="4" name="core_definition-shape-3"/>
          <p:cNvSpPr/>
          <p:nvPr/>
        </p:nvSpPr>
        <p:spPr>
          <a:xfrm>
            <a:off x="508000" y="1778000"/>
            <a:ext cx="15240000" cy="5080000"/>
          </a:xfrm>
          <a:prstGeom prst="roundRect">
            <a:avLst>
              <a:gd name="adj" fmla="val 2000"/>
            </a:avLst>
          </a:prstGeom>
          <a:solidFill>
            <a:srgbClr val="EAE6DF"/>
          </a:solidFill>
          <a:ln/>
        </p:spPr>
      </p:sp>
      <p:sp>
        <p:nvSpPr>
          <p:cNvPr id="5" name="core_definition-shape-4"/>
          <p:cNvSpPr/>
          <p:nvPr/>
        </p:nvSpPr>
        <p:spPr>
          <a:xfrm>
            <a:off x="1270000" y="2413000"/>
            <a:ext cx="13716000" cy="3810000"/>
          </a:xfrm>
          <a:prstGeom prst="roundRect">
            <a:avLst>
              <a:gd name="adj" fmla="val 1333"/>
            </a:avLst>
          </a:prstGeom>
          <a:solidFill>
            <a:srgbClr val="F9F8F6"/>
          </a:solidFill>
          <a:ln w="38100">
            <a:solidFill>
              <a:srgbClr val="0B192C"/>
            </a:solidFill>
            <a:prstDash val="solid"/>
          </a:ln>
        </p:spPr>
      </p:sp>
      <p:sp>
        <p:nvSpPr>
          <p:cNvPr id="6" name="core_definition-text-5"/>
          <p:cNvSpPr/>
          <p:nvPr/>
        </p:nvSpPr>
        <p:spPr>
          <a:xfrm>
            <a:off x="1270000" y="2794000"/>
            <a:ext cx="137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8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SAP System (e.g., S/4HANA)</a:t>
            </a:r>
            <a:endParaRPr lang="en-US" sz="2800" dirty="0"/>
          </a:p>
        </p:txBody>
      </p:sp>
      <p:sp>
        <p:nvSpPr>
          <p:cNvPr id="7" name="core_definition-shape-6"/>
          <p:cNvSpPr/>
          <p:nvPr/>
        </p:nvSpPr>
        <p:spPr>
          <a:xfrm>
            <a:off x="2032000" y="36830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B192C"/>
          </a:solidFill>
          <a:ln/>
        </p:spPr>
      </p:sp>
      <p:sp>
        <p:nvSpPr>
          <p:cNvPr id="8" name="core_definition-text-7"/>
          <p:cNvSpPr/>
          <p:nvPr/>
        </p:nvSpPr>
        <p:spPr>
          <a:xfrm>
            <a:off x="2032000" y="3873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&amp; Accounting</a:t>
            </a:r>
            <a:endParaRPr lang="en-US" sz="1800" dirty="0"/>
          </a:p>
        </p:txBody>
      </p:sp>
      <p:sp>
        <p:nvSpPr>
          <p:cNvPr id="9" name="core_definition-shape-8"/>
          <p:cNvSpPr/>
          <p:nvPr/>
        </p:nvSpPr>
        <p:spPr>
          <a:xfrm>
            <a:off x="5207000" y="36830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B192C"/>
          </a:solidFill>
          <a:ln/>
        </p:spPr>
      </p:sp>
      <p:sp>
        <p:nvSpPr>
          <p:cNvPr id="10" name="core_definition-text-9"/>
          <p:cNvSpPr/>
          <p:nvPr/>
        </p:nvSpPr>
        <p:spPr>
          <a:xfrm>
            <a:off x="5207000" y="3873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Order-to-Cash</a:t>
            </a:r>
            <a:endParaRPr lang="en-US" sz="1800" dirty="0"/>
          </a:p>
        </p:txBody>
      </p:sp>
      <p:sp>
        <p:nvSpPr>
          <p:cNvPr id="11" name="core_definition-shape-10"/>
          <p:cNvSpPr/>
          <p:nvPr/>
        </p:nvSpPr>
        <p:spPr>
          <a:xfrm>
            <a:off x="8382000" y="36830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B192C"/>
          </a:solidFill>
          <a:ln/>
        </p:spPr>
      </p:sp>
      <p:sp>
        <p:nvSpPr>
          <p:cNvPr id="12" name="core_definition-text-11"/>
          <p:cNvSpPr/>
          <p:nvPr/>
        </p:nvSpPr>
        <p:spPr>
          <a:xfrm>
            <a:off x="8382000" y="3873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</a:t>
            </a:r>
            <a:endParaRPr lang="en-US" sz="1800" dirty="0"/>
          </a:p>
        </p:txBody>
      </p:sp>
      <p:sp>
        <p:nvSpPr>
          <p:cNvPr id="13" name="core_definition-shape-12"/>
          <p:cNvSpPr/>
          <p:nvPr/>
        </p:nvSpPr>
        <p:spPr>
          <a:xfrm>
            <a:off x="11557000" y="36830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B192C"/>
          </a:solidFill>
          <a:ln/>
        </p:spPr>
      </p:sp>
      <p:sp>
        <p:nvSpPr>
          <p:cNvPr id="14" name="core_definition-text-13"/>
          <p:cNvSpPr/>
          <p:nvPr/>
        </p:nvSpPr>
        <p:spPr>
          <a:xfrm>
            <a:off x="11557000" y="3873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</a:t>
            </a:r>
            <a:endParaRPr lang="en-US" sz="1800" dirty="0"/>
          </a:p>
        </p:txBody>
      </p:sp>
      <p:sp>
        <p:nvSpPr>
          <p:cNvPr id="15" name="core_definition-shape-14"/>
          <p:cNvSpPr/>
          <p:nvPr/>
        </p:nvSpPr>
        <p:spPr>
          <a:xfrm>
            <a:off x="3619500" y="50165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B192C"/>
          </a:solidFill>
          <a:ln/>
        </p:spPr>
      </p:sp>
      <p:sp>
        <p:nvSpPr>
          <p:cNvPr id="16" name="core_definition-text-15"/>
          <p:cNvSpPr/>
          <p:nvPr/>
        </p:nvSpPr>
        <p:spPr>
          <a:xfrm>
            <a:off x="3619500" y="52070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17" name="core_definition-shape-16"/>
          <p:cNvSpPr/>
          <p:nvPr/>
        </p:nvSpPr>
        <p:spPr>
          <a:xfrm>
            <a:off x="9842500" y="5016500"/>
            <a:ext cx="2794000" cy="1016000"/>
          </a:xfrm>
          <a:prstGeom prst="roundRect">
            <a:avLst>
              <a:gd name="adj" fmla="val 5000"/>
            </a:avLst>
          </a:prstGeom>
          <a:solidFill>
            <a:srgbClr val="0B192C"/>
          </a:solidFill>
          <a:ln/>
        </p:spPr>
      </p:sp>
      <p:sp>
        <p:nvSpPr>
          <p:cNvPr id="18" name="core_definition-text-17"/>
          <p:cNvSpPr/>
          <p:nvPr/>
        </p:nvSpPr>
        <p:spPr>
          <a:xfrm>
            <a:off x="9842500" y="52070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Data</a:t>
            </a:r>
            <a:endParaRPr lang="en-US" sz="1800" dirty="0"/>
          </a:p>
        </p:txBody>
      </p:sp>
      <p:sp>
        <p:nvSpPr>
          <p:cNvPr id="19" name="core_definition-text-18"/>
          <p:cNvSpPr/>
          <p:nvPr/>
        </p:nvSpPr>
        <p:spPr>
          <a:xfrm>
            <a:off x="508000" y="7112000"/>
            <a:ext cx="152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 here is non-negotiable. Changes must be carefully governed.</a:t>
            </a:r>
            <a:endParaRPr lang="en-US" sz="1800" dirty="0"/>
          </a:p>
        </p:txBody>
      </p:sp>
      <p:sp>
        <p:nvSpPr>
          <p:cNvPr id="20" name="core_definition-text-19"/>
          <p:cNvSpPr/>
          <p:nvPr/>
        </p:nvSpPr>
        <p:spPr>
          <a:xfrm>
            <a:off x="508000" y="8712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SAP BTP Product Page</a:t>
            </a:r>
            <a:endParaRPr lang="en-US" sz="1200" dirty="0"/>
          </a:p>
        </p:txBody>
      </p:sp>
      <p:sp>
        <p:nvSpPr>
          <p:cNvPr id="21" name="core_definition-text-20"/>
          <p:cNvSpPr/>
          <p:nvPr/>
        </p:nvSpPr>
        <p:spPr>
          <a:xfrm>
            <a:off x="14986000" y="8712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y_protect-text-1"/>
          <p:cNvSpPr/>
          <p:nvPr/>
        </p:nvSpPr>
        <p:spPr>
          <a:xfrm>
            <a:off x="508000" y="406400"/>
            <a:ext cx="1270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the core need protection?</a:t>
            </a:r>
            <a:endParaRPr lang="en-US" sz="3000" dirty="0"/>
          </a:p>
        </p:txBody>
      </p:sp>
      <p:sp>
        <p:nvSpPr>
          <p:cNvPr id="3" name="why_protect-text-2"/>
          <p:cNvSpPr/>
          <p:nvPr/>
        </p:nvSpPr>
        <p:spPr>
          <a:xfrm>
            <a:off x="508000" y="101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Uncontrolled direct modifications create long-term risk and upgrade friction.</a:t>
            </a:r>
            <a:endParaRPr lang="en-US" sz="1800" dirty="0"/>
          </a:p>
        </p:txBody>
      </p:sp>
      <p:sp>
        <p:nvSpPr>
          <p:cNvPr id="4" name="why_protect-shape-3"/>
          <p:cNvSpPr/>
          <p:nvPr/>
        </p:nvSpPr>
        <p:spPr>
          <a:xfrm>
            <a:off x="508000" y="1651000"/>
            <a:ext cx="15240000" cy="4572000"/>
          </a:xfrm>
          <a:prstGeom prst="roundRect">
            <a:avLst>
              <a:gd name="adj" fmla="val 2222"/>
            </a:avLst>
          </a:prstGeom>
          <a:solidFill>
            <a:srgbClr val="EAE6DF"/>
          </a:solidFill>
          <a:ln/>
        </p:spPr>
      </p:sp>
      <p:sp>
        <p:nvSpPr>
          <p:cNvPr id="5" name="why_protect-shape-4"/>
          <p:cNvSpPr/>
          <p:nvPr/>
        </p:nvSpPr>
        <p:spPr>
          <a:xfrm>
            <a:off x="1270000" y="2286000"/>
            <a:ext cx="3302000" cy="1270000"/>
          </a:xfrm>
          <a:prstGeom prst="roundRect">
            <a:avLst>
              <a:gd name="adj" fmla="val 4000"/>
            </a:avLst>
          </a:prstGeom>
          <a:solidFill>
            <a:srgbClr val="0B192C"/>
          </a:solidFill>
          <a:ln/>
        </p:spPr>
      </p:sp>
      <p:sp>
        <p:nvSpPr>
          <p:cNvPr id="6" name="why_protect-text-5"/>
          <p:cNvSpPr/>
          <p:nvPr/>
        </p:nvSpPr>
        <p:spPr>
          <a:xfrm>
            <a:off x="1270000" y="2476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Business Need</a:t>
            </a:r>
            <a:endParaRPr lang="en-US" sz="1900" dirty="0"/>
          </a:p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(e.g., custom report or form)</a:t>
            </a:r>
            <a:endParaRPr lang="en-US" sz="1900" dirty="0"/>
          </a:p>
        </p:txBody>
      </p:sp>
      <p:sp>
        <p:nvSpPr>
          <p:cNvPr id="7" name="why_protect-shape-6"/>
          <p:cNvSpPr/>
          <p:nvPr/>
        </p:nvSpPr>
        <p:spPr>
          <a:xfrm>
            <a:off x="5080000" y="2794000"/>
            <a:ext cx="1524000" cy="9144"/>
          </a:xfrm>
          <a:prstGeom prst="line">
            <a:avLst/>
          </a:prstGeom>
          <a:ln w="50800">
            <a:solidFill>
              <a:srgbClr val="FF6F61"/>
            </a:solidFill>
            <a:prstDash val="solid"/>
          </a:ln>
        </p:spPr>
      </p:sp>
      <p:sp>
        <p:nvSpPr>
          <p:cNvPr id="8" name="why_protect-text-7"/>
          <p:cNvSpPr/>
          <p:nvPr/>
        </p:nvSpPr>
        <p:spPr>
          <a:xfrm>
            <a:off x="5080000" y="241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6F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Modification</a:t>
            </a:r>
            <a:endParaRPr lang="en-US" sz="1400" dirty="0"/>
          </a:p>
        </p:txBody>
      </p:sp>
      <p:sp>
        <p:nvSpPr>
          <p:cNvPr id="9" name="why_protect-shape-8"/>
          <p:cNvSpPr/>
          <p:nvPr/>
        </p:nvSpPr>
        <p:spPr>
          <a:xfrm>
            <a:off x="7112000" y="2286000"/>
            <a:ext cx="3302000" cy="1270000"/>
          </a:xfrm>
          <a:prstGeom prst="roundRect">
            <a:avLst>
              <a:gd name="adj" fmla="val 4000"/>
            </a:avLst>
          </a:prstGeom>
          <a:solidFill>
            <a:srgbClr val="FF6F61"/>
          </a:solidFill>
          <a:ln/>
        </p:spPr>
      </p:sp>
      <p:sp>
        <p:nvSpPr>
          <p:cNvPr id="10" name="why_protect-text-9"/>
          <p:cNvSpPr/>
          <p:nvPr/>
        </p:nvSpPr>
        <p:spPr>
          <a:xfrm>
            <a:off x="7112000" y="2476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Code in Core</a:t>
            </a:r>
            <a:endParaRPr lang="en-US" sz="1900" dirty="0"/>
          </a:p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(unmanaged or tightly coupled)</a:t>
            </a:r>
            <a:endParaRPr lang="en-US" sz="1900" dirty="0"/>
          </a:p>
        </p:txBody>
      </p:sp>
      <p:sp>
        <p:nvSpPr>
          <p:cNvPr id="11" name="why_protect-shape-10"/>
          <p:cNvSpPr/>
          <p:nvPr/>
        </p:nvSpPr>
        <p:spPr>
          <a:xfrm>
            <a:off x="10922000" y="2794000"/>
            <a:ext cx="1524000" cy="9144"/>
          </a:xfrm>
          <a:prstGeom prst="line">
            <a:avLst/>
          </a:prstGeom>
          <a:ln w="50800">
            <a:solidFill>
              <a:srgbClr val="FF6F61"/>
            </a:solidFill>
            <a:prstDash val="solid"/>
          </a:ln>
        </p:spPr>
      </p:sp>
      <p:sp>
        <p:nvSpPr>
          <p:cNvPr id="12" name="why_protect-text-11"/>
          <p:cNvSpPr/>
          <p:nvPr/>
        </p:nvSpPr>
        <p:spPr>
          <a:xfrm>
            <a:off x="10922000" y="241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6F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Effects</a:t>
            </a:r>
            <a:endParaRPr lang="en-US" sz="1400" dirty="0"/>
          </a:p>
        </p:txBody>
      </p:sp>
      <p:sp>
        <p:nvSpPr>
          <p:cNvPr id="13" name="why_protect-shape-12"/>
          <p:cNvSpPr/>
          <p:nvPr/>
        </p:nvSpPr>
        <p:spPr>
          <a:xfrm>
            <a:off x="12954000" y="2286000"/>
            <a:ext cx="2032000" cy="1270000"/>
          </a:xfrm>
          <a:prstGeom prst="roundRect">
            <a:avLst>
              <a:gd name="adj" fmla="val 4000"/>
            </a:avLst>
          </a:prstGeom>
          <a:solidFill>
            <a:srgbClr val="EAE6DF"/>
          </a:solidFill>
          <a:ln w="38100">
            <a:solidFill>
              <a:srgbClr val="FF6F61"/>
            </a:solidFill>
            <a:prstDash val="solid"/>
          </a:ln>
        </p:spPr>
      </p:sp>
      <p:sp>
        <p:nvSpPr>
          <p:cNvPr id="14" name="why_protect-text-13"/>
          <p:cNvSpPr/>
          <p:nvPr/>
        </p:nvSpPr>
        <p:spPr>
          <a:xfrm>
            <a:off x="12954000" y="2476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6F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700" dirty="0"/>
          </a:p>
        </p:txBody>
      </p:sp>
      <p:sp>
        <p:nvSpPr>
          <p:cNvPr id="15" name="why_protect-text-14"/>
          <p:cNvSpPr/>
          <p:nvPr/>
        </p:nvSpPr>
        <p:spPr>
          <a:xfrm>
            <a:off x="1270000" y="4064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1625" indent="-301625">
              <a:lnSpc>
                <a:spcPts val="26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conflicts: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changes break or require re-work during SAP updates.</a:t>
            </a:r>
            <a:endParaRPr lang="en-US" sz="1900" dirty="0"/>
          </a:p>
          <a:p>
            <a:pPr algn="l" marL="301625" indent="-301625">
              <a:lnSpc>
                <a:spcPts val="26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 coupling: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Extensions depend on internal tables and logic that may change.</a:t>
            </a:r>
            <a:endParaRPr lang="en-US" sz="1900" dirty="0"/>
          </a:p>
          <a:p>
            <a:pPr algn="l" marL="301625" indent="-301625">
              <a:lnSpc>
                <a:spcPts val="26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complexity: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Future teams inherit unfamiliar, risky code paths.</a:t>
            </a:r>
            <a:endParaRPr lang="en-US" sz="1900" dirty="0"/>
          </a:p>
          <a:p>
            <a:pPr algn="l" marL="301625" indent="-301625">
              <a:lnSpc>
                <a:spcPts val="266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exposure: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 access can bypass intended authorization boundaries.</a:t>
            </a:r>
            <a:endParaRPr lang="en-US" sz="1900" dirty="0"/>
          </a:p>
        </p:txBody>
      </p:sp>
      <p:sp>
        <p:nvSpPr>
          <p:cNvPr id="16" name="why_protect-shape-15"/>
          <p:cNvSpPr/>
          <p:nvPr/>
        </p:nvSpPr>
        <p:spPr>
          <a:xfrm>
            <a:off x="508000" y="6604000"/>
            <a:ext cx="15240000" cy="1143000"/>
          </a:xfrm>
          <a:prstGeom prst="roundRect">
            <a:avLst>
              <a:gd name="adj" fmla="val 6667"/>
            </a:avLst>
          </a:prstGeom>
          <a:solidFill>
            <a:srgbClr val="EAB308"/>
          </a:solidFill>
          <a:ln/>
        </p:spPr>
      </p:sp>
      <p:sp>
        <p:nvSpPr>
          <p:cNvPr id="17" name="why_protect-text-16"/>
          <p:cNvSpPr/>
          <p:nvPr/>
        </p:nvSpPr>
        <p:spPr>
          <a:xfrm>
            <a:off x="889000" y="6858000"/>
            <a:ext cx="144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altLang="en-US" sz="20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Solve business problems without sacrificing core stability or upgrade readiness.</a:t>
            </a:r>
            <a:endParaRPr lang="en-US" sz="2000" dirty="0"/>
          </a:p>
        </p:txBody>
      </p:sp>
      <p:sp>
        <p:nvSpPr>
          <p:cNvPr id="18" name="why_protect-text-17"/>
          <p:cNvSpPr/>
          <p:nvPr/>
        </p:nvSpPr>
        <p:spPr>
          <a:xfrm>
            <a:off x="508000" y="8712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SAP BTP Product Page</a:t>
            </a:r>
            <a:endParaRPr lang="en-US" sz="1200" dirty="0"/>
          </a:p>
        </p:txBody>
      </p:sp>
      <p:sp>
        <p:nvSpPr>
          <p:cNvPr id="19" name="why_protect-text-18"/>
          <p:cNvSpPr/>
          <p:nvPr/>
        </p:nvSpPr>
        <p:spPr>
          <a:xfrm>
            <a:off x="14986000" y="8712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_core-text-1"/>
          <p:cNvSpPr/>
          <p:nvPr/>
        </p:nvSpPr>
        <p:spPr>
          <a:xfrm>
            <a:off x="508000" y="406400"/>
            <a:ext cx="1270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clean-core approach</a:t>
            </a:r>
            <a:endParaRPr lang="en-US" sz="3000" dirty="0"/>
          </a:p>
        </p:txBody>
      </p:sp>
      <p:sp>
        <p:nvSpPr>
          <p:cNvPr id="3" name="clean_core-text-2"/>
          <p:cNvSpPr/>
          <p:nvPr/>
        </p:nvSpPr>
        <p:spPr>
          <a:xfrm>
            <a:off x="508000" y="101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innovation to a governed platform layer, using approved interfaces to interact with the core.</a:t>
            </a:r>
            <a:endParaRPr lang="en-US" sz="1800" dirty="0"/>
          </a:p>
        </p:txBody>
      </p:sp>
      <p:sp>
        <p:nvSpPr>
          <p:cNvPr id="4" name="clean_core-shape-3"/>
          <p:cNvSpPr/>
          <p:nvPr/>
        </p:nvSpPr>
        <p:spPr>
          <a:xfrm>
            <a:off x="508000" y="1651000"/>
            <a:ext cx="5080000" cy="6096000"/>
          </a:xfrm>
          <a:prstGeom prst="roundRect">
            <a:avLst>
              <a:gd name="adj" fmla="val 2000"/>
            </a:avLst>
          </a:prstGeom>
          <a:solidFill>
            <a:srgbClr val="EAE6DF"/>
          </a:solidFill>
          <a:ln/>
        </p:spPr>
      </p:sp>
      <p:sp>
        <p:nvSpPr>
          <p:cNvPr id="5" name="clean_core-text-4"/>
          <p:cNvSpPr/>
          <p:nvPr/>
        </p:nvSpPr>
        <p:spPr>
          <a:xfrm>
            <a:off x="508000" y="1905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Core (System of Record)</a:t>
            </a:r>
            <a:endParaRPr lang="en-US" sz="2600" dirty="0"/>
          </a:p>
        </p:txBody>
      </p:sp>
      <p:sp>
        <p:nvSpPr>
          <p:cNvPr id="6" name="clean_core-shape-5"/>
          <p:cNvSpPr/>
          <p:nvPr/>
        </p:nvSpPr>
        <p:spPr>
          <a:xfrm>
            <a:off x="1143000" y="2667000"/>
            <a:ext cx="3810000" cy="889000"/>
          </a:xfrm>
          <a:prstGeom prst="roundRect">
            <a:avLst>
              <a:gd name="adj" fmla="val 5714"/>
            </a:avLst>
          </a:prstGeom>
          <a:solidFill>
            <a:srgbClr val="0B192C"/>
          </a:solidFill>
          <a:ln/>
        </p:spPr>
      </p:sp>
      <p:sp>
        <p:nvSpPr>
          <p:cNvPr id="7" name="clean_core-text-6"/>
          <p:cNvSpPr/>
          <p:nvPr/>
        </p:nvSpPr>
        <p:spPr>
          <a:xfrm>
            <a:off x="1143000" y="2794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Processes</a:t>
            </a:r>
            <a:endParaRPr lang="en-US" sz="1800" dirty="0"/>
          </a:p>
        </p:txBody>
      </p:sp>
      <p:sp>
        <p:nvSpPr>
          <p:cNvPr id="8" name="clean_core-shape-7"/>
          <p:cNvSpPr/>
          <p:nvPr/>
        </p:nvSpPr>
        <p:spPr>
          <a:xfrm>
            <a:off x="1143000" y="3810000"/>
            <a:ext cx="3810000" cy="889000"/>
          </a:xfrm>
          <a:prstGeom prst="roundRect">
            <a:avLst>
              <a:gd name="adj" fmla="val 5714"/>
            </a:avLst>
          </a:prstGeom>
          <a:solidFill>
            <a:srgbClr val="0B192C"/>
          </a:solidFill>
          <a:ln/>
        </p:spPr>
      </p:sp>
      <p:sp>
        <p:nvSpPr>
          <p:cNvPr id="9" name="clean_core-text-8"/>
          <p:cNvSpPr/>
          <p:nvPr/>
        </p:nvSpPr>
        <p:spPr>
          <a:xfrm>
            <a:off x="1143000" y="3937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Authoritative Transaction Data</a:t>
            </a:r>
            <a:endParaRPr lang="en-US" sz="1800" dirty="0"/>
          </a:p>
        </p:txBody>
      </p:sp>
      <p:sp>
        <p:nvSpPr>
          <p:cNvPr id="10" name="clean_core-shape-9"/>
          <p:cNvSpPr/>
          <p:nvPr/>
        </p:nvSpPr>
        <p:spPr>
          <a:xfrm>
            <a:off x="1143000" y="4953000"/>
            <a:ext cx="3810000" cy="889000"/>
          </a:xfrm>
          <a:prstGeom prst="roundRect">
            <a:avLst>
              <a:gd name="adj" fmla="val 5714"/>
            </a:avLst>
          </a:prstGeom>
          <a:solidFill>
            <a:srgbClr val="EAB308"/>
          </a:solidFill>
          <a:ln/>
        </p:spPr>
      </p:sp>
      <p:sp>
        <p:nvSpPr>
          <p:cNvPr id="11" name="clean_core-text-10"/>
          <p:cNvSpPr/>
          <p:nvPr/>
        </p:nvSpPr>
        <p:spPr>
          <a:xfrm>
            <a:off x="1143000" y="5080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APIs &amp; Events</a:t>
            </a:r>
            <a:endParaRPr lang="en-US" sz="1800" dirty="0"/>
          </a:p>
        </p:txBody>
      </p:sp>
      <p:sp>
        <p:nvSpPr>
          <p:cNvPr id="12" name="clean_core-shape-11"/>
          <p:cNvSpPr/>
          <p:nvPr/>
        </p:nvSpPr>
        <p:spPr>
          <a:xfrm>
            <a:off x="1143000" y="6096000"/>
            <a:ext cx="3810000" cy="889000"/>
          </a:xfrm>
          <a:prstGeom prst="roundRect">
            <a:avLst>
              <a:gd name="adj" fmla="val 5714"/>
            </a:avLst>
          </a:prstGeom>
          <a:solidFill>
            <a:srgbClr val="EAB308"/>
          </a:solidFill>
          <a:ln/>
        </p:spPr>
      </p:sp>
      <p:sp>
        <p:nvSpPr>
          <p:cNvPr id="13" name="clean_core-text-12"/>
          <p:cNvSpPr/>
          <p:nvPr/>
        </p:nvSpPr>
        <p:spPr>
          <a:xfrm>
            <a:off x="1143000" y="6223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Extension Points</a:t>
            </a:r>
            <a:endParaRPr lang="en-US" sz="1800" dirty="0"/>
          </a:p>
        </p:txBody>
      </p:sp>
      <p:sp>
        <p:nvSpPr>
          <p:cNvPr id="14" name="clean_core-shape-13"/>
          <p:cNvSpPr/>
          <p:nvPr/>
        </p:nvSpPr>
        <p:spPr>
          <a:xfrm>
            <a:off x="5715000" y="3810000"/>
            <a:ext cx="2032000" cy="9144"/>
          </a:xfrm>
          <a:prstGeom prst="line">
            <a:avLst/>
          </a:prstGeom>
          <a:ln w="50800">
            <a:solidFill>
              <a:srgbClr val="0F766E"/>
            </a:solidFill>
            <a:prstDash val="solid"/>
          </a:ln>
        </p:spPr>
      </p:sp>
      <p:sp>
        <p:nvSpPr>
          <p:cNvPr id="15" name="clean_core-text-14"/>
          <p:cNvSpPr/>
          <p:nvPr/>
        </p:nvSpPr>
        <p:spPr>
          <a:xfrm>
            <a:off x="5715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Access</a:t>
            </a:r>
            <a:endParaRPr lang="en-US" sz="1400" dirty="0"/>
          </a:p>
        </p:txBody>
      </p:sp>
      <p:sp>
        <p:nvSpPr>
          <p:cNvPr id="16" name="clean_core-shape-15"/>
          <p:cNvSpPr/>
          <p:nvPr/>
        </p:nvSpPr>
        <p:spPr>
          <a:xfrm>
            <a:off x="8128000" y="1651000"/>
            <a:ext cx="7620000" cy="6096000"/>
          </a:xfrm>
          <a:prstGeom prst="roundRect">
            <a:avLst>
              <a:gd name="adj" fmla="val 1667"/>
            </a:avLst>
          </a:prstGeom>
          <a:solidFill>
            <a:srgbClr val="F9F8F6"/>
          </a:solidFill>
          <a:ln w="50800">
            <a:solidFill>
              <a:srgbClr val="0F766E"/>
            </a:solidFill>
            <a:prstDash val="solid"/>
          </a:ln>
        </p:spPr>
      </p:sp>
      <p:sp>
        <p:nvSpPr>
          <p:cNvPr id="17" name="clean_core-text-16"/>
          <p:cNvSpPr/>
          <p:nvPr/>
        </p:nvSpPr>
        <p:spPr>
          <a:xfrm>
            <a:off x="8128000" y="1905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BTP (Innovation Platform)</a:t>
            </a:r>
            <a:endParaRPr lang="en-US" sz="2600" dirty="0"/>
          </a:p>
        </p:txBody>
      </p:sp>
      <p:sp>
        <p:nvSpPr>
          <p:cNvPr id="18" name="clean_core-shape-17"/>
          <p:cNvSpPr/>
          <p:nvPr/>
        </p:nvSpPr>
        <p:spPr>
          <a:xfrm>
            <a:off x="8763000" y="2667000"/>
            <a:ext cx="6350000" cy="7620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19" name="clean_core-text-18"/>
          <p:cNvSpPr/>
          <p:nvPr/>
        </p:nvSpPr>
        <p:spPr>
          <a:xfrm>
            <a:off x="8763000" y="279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Extensions &amp; Custom Apps</a:t>
            </a:r>
            <a:endParaRPr lang="en-US" sz="1800" dirty="0"/>
          </a:p>
        </p:txBody>
      </p:sp>
      <p:sp>
        <p:nvSpPr>
          <p:cNvPr id="20" name="clean_core-shape-19"/>
          <p:cNvSpPr/>
          <p:nvPr/>
        </p:nvSpPr>
        <p:spPr>
          <a:xfrm>
            <a:off x="8763000" y="3683000"/>
            <a:ext cx="6350000" cy="7620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21" name="clean_core-text-20"/>
          <p:cNvSpPr/>
          <p:nvPr/>
        </p:nvSpPr>
        <p:spPr>
          <a:xfrm>
            <a:off x="8763000" y="381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Services &amp; APIs</a:t>
            </a:r>
            <a:endParaRPr lang="en-US" sz="1800" dirty="0"/>
          </a:p>
        </p:txBody>
      </p:sp>
      <p:sp>
        <p:nvSpPr>
          <p:cNvPr id="22" name="clean_core-shape-21"/>
          <p:cNvSpPr/>
          <p:nvPr/>
        </p:nvSpPr>
        <p:spPr>
          <a:xfrm>
            <a:off x="8763000" y="4699000"/>
            <a:ext cx="6350000" cy="7620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23" name="clean_core-text-22"/>
          <p:cNvSpPr/>
          <p:nvPr/>
        </p:nvSpPr>
        <p:spPr>
          <a:xfrm>
            <a:off x="8763000" y="482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Workflow</a:t>
            </a:r>
            <a:endParaRPr lang="en-US" sz="1800" dirty="0"/>
          </a:p>
        </p:txBody>
      </p:sp>
      <p:sp>
        <p:nvSpPr>
          <p:cNvPr id="24" name="clean_core-shape-23"/>
          <p:cNvSpPr/>
          <p:nvPr/>
        </p:nvSpPr>
        <p:spPr>
          <a:xfrm>
            <a:off x="8763000" y="5715000"/>
            <a:ext cx="6350000" cy="7620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25" name="clean_core-text-24"/>
          <p:cNvSpPr/>
          <p:nvPr/>
        </p:nvSpPr>
        <p:spPr>
          <a:xfrm>
            <a:off x="8763000" y="584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Services &amp; Agents</a:t>
            </a:r>
            <a:endParaRPr lang="en-US" sz="1800" dirty="0"/>
          </a:p>
        </p:txBody>
      </p:sp>
      <p:sp>
        <p:nvSpPr>
          <p:cNvPr id="26" name="clean_core-shape-25"/>
          <p:cNvSpPr/>
          <p:nvPr/>
        </p:nvSpPr>
        <p:spPr>
          <a:xfrm>
            <a:off x="8763000" y="6731000"/>
            <a:ext cx="6350000" cy="762000"/>
          </a:xfrm>
          <a:prstGeom prst="roundRect">
            <a:avLst>
              <a:gd name="adj" fmla="val 6667"/>
            </a:avLst>
          </a:prstGeom>
          <a:solidFill>
            <a:srgbClr val="EAE6DF"/>
          </a:solidFill>
          <a:ln/>
        </p:spPr>
      </p:sp>
      <p:sp>
        <p:nvSpPr>
          <p:cNvPr id="27" name="clean_core-text-26"/>
          <p:cNvSpPr/>
          <p:nvPr/>
        </p:nvSpPr>
        <p:spPr>
          <a:xfrm>
            <a:off x="8763000" y="685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• Monitoring • Lifecycle</a:t>
            </a:r>
            <a:endParaRPr lang="en-US" sz="1700" dirty="0"/>
          </a:p>
        </p:txBody>
      </p:sp>
      <p:sp>
        <p:nvSpPr>
          <p:cNvPr id="28" name="clean_core-text-27"/>
          <p:cNvSpPr/>
          <p:nvPr/>
        </p:nvSpPr>
        <p:spPr>
          <a:xfrm>
            <a:off x="508000" y="8128000"/>
            <a:ext cx="152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remains stable; innovation happens on BTP.</a:t>
            </a:r>
            <a:endParaRPr lang="en-US" sz="1800" dirty="0"/>
          </a:p>
        </p:txBody>
      </p:sp>
      <p:sp>
        <p:nvSpPr>
          <p:cNvPr id="29" name="clean_core-text-28"/>
          <p:cNvSpPr/>
          <p:nvPr/>
        </p:nvSpPr>
        <p:spPr>
          <a:xfrm>
            <a:off x="508000" y="8712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SAP BTP Product Page</a:t>
            </a:r>
            <a:endParaRPr lang="en-US" sz="1200" dirty="0"/>
          </a:p>
        </p:txBody>
      </p:sp>
      <p:sp>
        <p:nvSpPr>
          <p:cNvPr id="30" name="clean_core-text-29"/>
          <p:cNvSpPr/>
          <p:nvPr/>
        </p:nvSpPr>
        <p:spPr>
          <a:xfrm>
            <a:off x="14986000" y="8712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undation-text-1"/>
          <p:cNvSpPr/>
          <p:nvPr/>
        </p:nvSpPr>
        <p:spPr>
          <a:xfrm>
            <a:off x="508000" y="406400"/>
            <a:ext cx="1270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foundation</a:t>
            </a:r>
            <a:endParaRPr lang="en-US" sz="3000" dirty="0"/>
          </a:p>
        </p:txBody>
      </p:sp>
      <p:sp>
        <p:nvSpPr>
          <p:cNvPr id="3" name="foundation-text-2"/>
          <p:cNvSpPr/>
          <p:nvPr/>
        </p:nvSpPr>
        <p:spPr>
          <a:xfrm>
            <a:off x="508000" y="101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capabilities that make extensions safe, reusable, and manageable.</a:t>
            </a:r>
            <a:endParaRPr lang="en-US" sz="1800" dirty="0"/>
          </a:p>
        </p:txBody>
      </p:sp>
      <p:sp>
        <p:nvSpPr>
          <p:cNvPr id="4" name="foundation-shape-3"/>
          <p:cNvSpPr/>
          <p:nvPr/>
        </p:nvSpPr>
        <p:spPr>
          <a:xfrm>
            <a:off x="508000" y="1651000"/>
            <a:ext cx="7366000" cy="2794000"/>
          </a:xfrm>
          <a:prstGeom prst="roundRect">
            <a:avLst>
              <a:gd name="adj" fmla="val 2727"/>
            </a:avLst>
          </a:prstGeom>
          <a:solidFill>
            <a:srgbClr val="EAE6DF"/>
          </a:solidFill>
          <a:ln/>
        </p:spPr>
      </p:sp>
      <p:sp>
        <p:nvSpPr>
          <p:cNvPr id="5" name="foundation-text-4"/>
          <p:cNvSpPr/>
          <p:nvPr/>
        </p:nvSpPr>
        <p:spPr>
          <a:xfrm>
            <a:off x="762000" y="1905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Access &amp; Security</a:t>
            </a:r>
            <a:endParaRPr lang="en-US" sz="2400" dirty="0"/>
          </a:p>
        </p:txBody>
      </p:sp>
      <p:sp>
        <p:nvSpPr>
          <p:cNvPr id="6" name="foundation-text-5"/>
          <p:cNvSpPr/>
          <p:nvPr/>
        </p:nvSpPr>
        <p:spPr>
          <a:xfrm>
            <a:off x="762000" y="2413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authorization and least privilege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destinations and connectivity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identity federation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and compliance monitoring</a:t>
            </a:r>
            <a:endParaRPr lang="en-US" sz="1700" dirty="0"/>
          </a:p>
        </p:txBody>
      </p:sp>
      <p:sp>
        <p:nvSpPr>
          <p:cNvPr id="7" name="foundation-shape-6"/>
          <p:cNvSpPr/>
          <p:nvPr/>
        </p:nvSpPr>
        <p:spPr>
          <a:xfrm>
            <a:off x="8382000" y="1651000"/>
            <a:ext cx="7366000" cy="2794000"/>
          </a:xfrm>
          <a:prstGeom prst="roundRect">
            <a:avLst>
              <a:gd name="adj" fmla="val 2727"/>
            </a:avLst>
          </a:prstGeom>
          <a:solidFill>
            <a:srgbClr val="EAE6DF"/>
          </a:solidFill>
          <a:ln/>
        </p:spPr>
      </p:sp>
      <p:sp>
        <p:nvSpPr>
          <p:cNvPr id="8" name="foundation-text-7"/>
          <p:cNvSpPr/>
          <p:nvPr/>
        </p:nvSpPr>
        <p:spPr>
          <a:xfrm>
            <a:off x="8636000" y="1905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&amp; Connectivity</a:t>
            </a:r>
            <a:endParaRPr lang="en-US" sz="2400" dirty="0"/>
          </a:p>
        </p:txBody>
      </p:sp>
      <p:sp>
        <p:nvSpPr>
          <p:cNvPr id="9" name="foundation-text-8"/>
          <p:cNvSpPr/>
          <p:nvPr/>
        </p:nvSpPr>
        <p:spPr>
          <a:xfrm>
            <a:off x="8636000" y="2413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Pre-built APIs and event-driven patterns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integration services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 and retry policies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data formats and protocols</a:t>
            </a:r>
            <a:endParaRPr lang="en-US" sz="1700" dirty="0"/>
          </a:p>
        </p:txBody>
      </p:sp>
      <p:sp>
        <p:nvSpPr>
          <p:cNvPr id="10" name="foundation-shape-9"/>
          <p:cNvSpPr/>
          <p:nvPr/>
        </p:nvSpPr>
        <p:spPr>
          <a:xfrm>
            <a:off x="508000" y="4699000"/>
            <a:ext cx="7366000" cy="2794000"/>
          </a:xfrm>
          <a:prstGeom prst="roundRect">
            <a:avLst>
              <a:gd name="adj" fmla="val 2727"/>
            </a:avLst>
          </a:prstGeom>
          <a:solidFill>
            <a:srgbClr val="EAE6DF"/>
          </a:solidFill>
          <a:ln/>
        </p:spPr>
      </p:sp>
      <p:sp>
        <p:nvSpPr>
          <p:cNvPr id="11" name="foundation-text-10"/>
          <p:cNvSpPr/>
          <p:nvPr/>
        </p:nvSpPr>
        <p:spPr>
          <a:xfrm>
            <a:off x="762000" y="4953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&amp; Lifecycle</a:t>
            </a:r>
            <a:endParaRPr lang="en-US" sz="2400" dirty="0"/>
          </a:p>
        </p:txBody>
      </p:sp>
      <p:sp>
        <p:nvSpPr>
          <p:cNvPr id="12" name="foundation-text-11"/>
          <p:cNvSpPr/>
          <p:nvPr/>
        </p:nvSpPr>
        <p:spPr>
          <a:xfrm>
            <a:off x="762000" y="5461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Dev/test/prod landscape separation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pipelines and version control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testing and quality gates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and release management</a:t>
            </a:r>
            <a:endParaRPr lang="en-US" sz="1700" dirty="0"/>
          </a:p>
        </p:txBody>
      </p:sp>
      <p:sp>
        <p:nvSpPr>
          <p:cNvPr id="13" name="foundation-shape-12"/>
          <p:cNvSpPr/>
          <p:nvPr/>
        </p:nvSpPr>
        <p:spPr>
          <a:xfrm>
            <a:off x="8382000" y="4699000"/>
            <a:ext cx="7366000" cy="2794000"/>
          </a:xfrm>
          <a:prstGeom prst="roundRect">
            <a:avLst>
              <a:gd name="adj" fmla="val 2727"/>
            </a:avLst>
          </a:prstGeom>
          <a:solidFill>
            <a:srgbClr val="EAE6DF"/>
          </a:solidFill>
          <a:ln/>
        </p:spPr>
      </p:sp>
      <p:sp>
        <p:nvSpPr>
          <p:cNvPr id="14" name="foundation-text-13"/>
          <p:cNvSpPr/>
          <p:nvPr/>
        </p:nvSpPr>
        <p:spPr>
          <a:xfrm>
            <a:off x="8636000" y="4953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Monitoring</a:t>
            </a:r>
            <a:endParaRPr lang="en-US" sz="2400" dirty="0"/>
          </a:p>
        </p:txBody>
      </p:sp>
      <p:sp>
        <p:nvSpPr>
          <p:cNvPr id="15" name="foundation-text-14"/>
          <p:cNvSpPr/>
          <p:nvPr/>
        </p:nvSpPr>
        <p:spPr>
          <a:xfrm>
            <a:off x="8636000" y="5461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and health monitoring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logging and tracing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Alerting and incident response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planning and scaling</a:t>
            </a:r>
            <a:endParaRPr lang="en-US" sz="1700" dirty="0"/>
          </a:p>
        </p:txBody>
      </p:sp>
      <p:sp>
        <p:nvSpPr>
          <p:cNvPr id="16" name="foundation-shape-15"/>
          <p:cNvSpPr/>
          <p:nvPr/>
        </p:nvSpPr>
        <p:spPr>
          <a:xfrm>
            <a:off x="508000" y="7747000"/>
            <a:ext cx="15240000" cy="635000"/>
          </a:xfrm>
          <a:prstGeom prst="roundRect">
            <a:avLst>
              <a:gd name="adj" fmla="val 8000"/>
            </a:avLst>
          </a:prstGeom>
          <a:solidFill>
            <a:srgbClr val="EAB308"/>
          </a:solidFill>
          <a:ln/>
        </p:spPr>
      </p:sp>
      <p:sp>
        <p:nvSpPr>
          <p:cNvPr id="17" name="foundation-text-16"/>
          <p:cNvSpPr/>
          <p:nvPr/>
        </p:nvSpPr>
        <p:spPr>
          <a:xfrm>
            <a:off x="889000" y="787400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first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Without these controls, innovation creates unmanaged risk.</a:t>
            </a:r>
            <a:endParaRPr lang="en-US" sz="1900" dirty="0"/>
          </a:p>
        </p:txBody>
      </p:sp>
      <p:sp>
        <p:nvSpPr>
          <p:cNvPr id="18" name="foundation-text-17"/>
          <p:cNvSpPr/>
          <p:nvPr/>
        </p:nvSpPr>
        <p:spPr>
          <a:xfrm>
            <a:off x="508000" y="8712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SAP BTP Product Page</a:t>
            </a:r>
            <a:endParaRPr lang="en-US" sz="1200" dirty="0"/>
          </a:p>
        </p:txBody>
      </p:sp>
      <p:sp>
        <p:nvSpPr>
          <p:cNvPr id="19" name="foundation-text-18"/>
          <p:cNvSpPr/>
          <p:nvPr/>
        </p:nvSpPr>
        <p:spPr>
          <a:xfrm>
            <a:off x="14986000" y="8712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iority_sequence-text-1"/>
          <p:cNvSpPr/>
          <p:nvPr/>
        </p:nvSpPr>
        <p:spPr>
          <a:xfrm>
            <a:off x="508000" y="406400"/>
            <a:ext cx="1270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foundation comes first</a:t>
            </a:r>
            <a:endParaRPr lang="en-US" sz="3000" dirty="0"/>
          </a:p>
        </p:txBody>
      </p:sp>
      <p:sp>
        <p:nvSpPr>
          <p:cNvPr id="3" name="priority_sequence-text-2"/>
          <p:cNvSpPr/>
          <p:nvPr/>
        </p:nvSpPr>
        <p:spPr>
          <a:xfrm>
            <a:off x="508000" y="101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capabilities depend on trusted, governed, and operationalized platform services.</a:t>
            </a:r>
            <a:endParaRPr lang="en-US" sz="1800" dirty="0"/>
          </a:p>
        </p:txBody>
      </p:sp>
      <p:sp>
        <p:nvSpPr>
          <p:cNvPr id="4" name="priority_sequence-shape-3"/>
          <p:cNvSpPr/>
          <p:nvPr/>
        </p:nvSpPr>
        <p:spPr>
          <a:xfrm>
            <a:off x="508000" y="1905000"/>
            <a:ext cx="15240000" cy="5080000"/>
          </a:xfrm>
          <a:prstGeom prst="roundRect">
            <a:avLst>
              <a:gd name="adj" fmla="val 2000"/>
            </a:avLst>
          </a:prstGeom>
          <a:solidFill>
            <a:srgbClr val="EAE6DF"/>
          </a:solidFill>
          <a:ln/>
        </p:spPr>
      </p:sp>
      <p:sp>
        <p:nvSpPr>
          <p:cNvPr id="5" name="priority_sequence-shape-4"/>
          <p:cNvSpPr/>
          <p:nvPr/>
        </p:nvSpPr>
        <p:spPr>
          <a:xfrm>
            <a:off x="1270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EAB308"/>
          </a:solidFill>
          <a:ln/>
        </p:spPr>
      </p:sp>
      <p:sp>
        <p:nvSpPr>
          <p:cNvPr id="6" name="priority_sequence-text-5"/>
          <p:cNvSpPr/>
          <p:nvPr/>
        </p:nvSpPr>
        <p:spPr>
          <a:xfrm>
            <a:off x="1270000" y="29845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Foundation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Ops</a:t>
            </a:r>
            <a:endParaRPr lang="en-US" sz="1800" dirty="0"/>
          </a:p>
        </p:txBody>
      </p:sp>
      <p:sp>
        <p:nvSpPr>
          <p:cNvPr id="7" name="priority_sequence-shape-6"/>
          <p:cNvSpPr/>
          <p:nvPr/>
        </p:nvSpPr>
        <p:spPr>
          <a:xfrm>
            <a:off x="3683000" y="3429000"/>
            <a:ext cx="1016000" cy="9144"/>
          </a:xfrm>
          <a:prstGeom prst="line">
            <a:avLst/>
          </a:prstGeom>
          <a:ln w="50800">
            <a:solidFill>
              <a:srgbClr val="0F766E"/>
            </a:solidFill>
            <a:prstDash val="solid"/>
          </a:ln>
        </p:spPr>
      </p:sp>
      <p:sp>
        <p:nvSpPr>
          <p:cNvPr id="8" name="priority_sequence-shape-7"/>
          <p:cNvSpPr/>
          <p:nvPr/>
        </p:nvSpPr>
        <p:spPr>
          <a:xfrm>
            <a:off x="4826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9" name="priority_sequence-text-8"/>
          <p:cNvSpPr/>
          <p:nvPr/>
        </p:nvSpPr>
        <p:spPr>
          <a:xfrm>
            <a:off x="4826000" y="29845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Integration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systems</a:t>
            </a:r>
            <a:endParaRPr lang="en-US" sz="1800" dirty="0"/>
          </a:p>
        </p:txBody>
      </p:sp>
      <p:sp>
        <p:nvSpPr>
          <p:cNvPr id="10" name="priority_sequence-shape-9"/>
          <p:cNvSpPr/>
          <p:nvPr/>
        </p:nvSpPr>
        <p:spPr>
          <a:xfrm>
            <a:off x="7239000" y="3429000"/>
            <a:ext cx="1016000" cy="9144"/>
          </a:xfrm>
          <a:prstGeom prst="line">
            <a:avLst/>
          </a:prstGeom>
          <a:ln w="50800">
            <a:solidFill>
              <a:srgbClr val="0F766E"/>
            </a:solidFill>
            <a:prstDash val="solid"/>
          </a:ln>
        </p:spPr>
      </p:sp>
      <p:sp>
        <p:nvSpPr>
          <p:cNvPr id="11" name="priority_sequence-shape-10"/>
          <p:cNvSpPr/>
          <p:nvPr/>
        </p:nvSpPr>
        <p:spPr>
          <a:xfrm>
            <a:off x="8382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12" name="priority_sequence-text-11"/>
          <p:cNvSpPr/>
          <p:nvPr/>
        </p:nvSpPr>
        <p:spPr>
          <a:xfrm>
            <a:off x="8382000" y="29845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Data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Unify context</a:t>
            </a:r>
            <a:endParaRPr lang="en-US" sz="1800" dirty="0"/>
          </a:p>
        </p:txBody>
      </p:sp>
      <p:sp>
        <p:nvSpPr>
          <p:cNvPr id="13" name="priority_sequence-shape-12"/>
          <p:cNvSpPr/>
          <p:nvPr/>
        </p:nvSpPr>
        <p:spPr>
          <a:xfrm>
            <a:off x="10795000" y="3429000"/>
            <a:ext cx="1016000" cy="9144"/>
          </a:xfrm>
          <a:prstGeom prst="line">
            <a:avLst/>
          </a:prstGeom>
          <a:ln w="50800">
            <a:solidFill>
              <a:srgbClr val="0F766E"/>
            </a:solidFill>
            <a:prstDash val="solid"/>
          </a:ln>
        </p:spPr>
      </p:sp>
      <p:sp>
        <p:nvSpPr>
          <p:cNvPr id="14" name="priority_sequence-shape-13"/>
          <p:cNvSpPr/>
          <p:nvPr/>
        </p:nvSpPr>
        <p:spPr>
          <a:xfrm>
            <a:off x="11938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15" name="priority_sequence-text-14"/>
          <p:cNvSpPr/>
          <p:nvPr/>
        </p:nvSpPr>
        <p:spPr>
          <a:xfrm>
            <a:off x="11938000" y="29845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Automation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flows</a:t>
            </a:r>
            <a:endParaRPr lang="en-US" sz="1800" dirty="0"/>
          </a:p>
        </p:txBody>
      </p:sp>
      <p:sp>
        <p:nvSpPr>
          <p:cNvPr id="16" name="priority_sequence-text-15"/>
          <p:cNvSpPr/>
          <p:nvPr/>
        </p:nvSpPr>
        <p:spPr>
          <a:xfrm>
            <a:off x="1270000" y="4826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Dependency: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 cannot safely automate or apply AI until identity, connectivity, monitoring, and lifecycle controls are in place.</a:t>
            </a:r>
            <a:endParaRPr lang="en-US" sz="19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AI agent cannot reliably access data if the integration layer is unstable or unauthorized.</a:t>
            </a:r>
            <a:endParaRPr lang="en-US" sz="1900" dirty="0"/>
          </a:p>
        </p:txBody>
      </p:sp>
      <p:sp>
        <p:nvSpPr>
          <p:cNvPr id="17" name="priority_sequence-shape-16"/>
          <p:cNvSpPr/>
          <p:nvPr/>
        </p:nvSpPr>
        <p:spPr>
          <a:xfrm>
            <a:off x="508000" y="7366000"/>
            <a:ext cx="15240000" cy="762000"/>
          </a:xfrm>
          <a:prstGeom prst="roundRect">
            <a:avLst>
              <a:gd name="adj" fmla="val 10000"/>
            </a:avLst>
          </a:prstGeom>
          <a:solidFill>
            <a:srgbClr val="FF6F61"/>
          </a:solidFill>
          <a:ln/>
        </p:spPr>
      </p:sp>
      <p:sp>
        <p:nvSpPr>
          <p:cNvPr id="18" name="priority_sequence-text-17"/>
          <p:cNvSpPr/>
          <p:nvPr/>
        </p:nvSpPr>
        <p:spPr>
          <a:xfrm>
            <a:off x="889000" y="755650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Skipping the foundation creates fragile, insecure prototypes—not production systems.</a:t>
            </a:r>
            <a:endParaRPr lang="en-US" sz="1900" dirty="0"/>
          </a:p>
        </p:txBody>
      </p:sp>
      <p:sp>
        <p:nvSpPr>
          <p:cNvPr id="19" name="priority_sequence-text-18"/>
          <p:cNvSpPr/>
          <p:nvPr/>
        </p:nvSpPr>
        <p:spPr>
          <a:xfrm>
            <a:off x="508000" y="8712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SAP BTP Product Page</a:t>
            </a:r>
            <a:endParaRPr lang="en-US" sz="1200" dirty="0"/>
          </a:p>
        </p:txBody>
      </p:sp>
      <p:sp>
        <p:nvSpPr>
          <p:cNvPr id="20" name="priority_sequence-text-19"/>
          <p:cNvSpPr/>
          <p:nvPr/>
        </p:nvSpPr>
        <p:spPr>
          <a:xfrm>
            <a:off x="14986000" y="8712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ctical_example-text-1"/>
          <p:cNvSpPr/>
          <p:nvPr/>
        </p:nvSpPr>
        <p:spPr>
          <a:xfrm>
            <a:off x="508000" y="406400"/>
            <a:ext cx="1270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example: delayed-delivery insight</a:t>
            </a:r>
            <a:endParaRPr lang="en-US" sz="3000" dirty="0"/>
          </a:p>
        </p:txBody>
      </p:sp>
      <p:sp>
        <p:nvSpPr>
          <p:cNvPr id="3" name="practical_example-text-2"/>
          <p:cNvSpPr/>
          <p:nvPr/>
        </p:nvSpPr>
        <p:spPr>
          <a:xfrm>
            <a:off x="508000" y="101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approaches to the same business requirement—one protects the core, the other does not.</a:t>
            </a:r>
            <a:endParaRPr lang="en-US" sz="1800" dirty="0"/>
          </a:p>
        </p:txBody>
      </p:sp>
      <p:sp>
        <p:nvSpPr>
          <p:cNvPr id="4" name="practical_example-shape-3"/>
          <p:cNvSpPr/>
          <p:nvPr/>
        </p:nvSpPr>
        <p:spPr>
          <a:xfrm>
            <a:off x="508000" y="1651000"/>
            <a:ext cx="7366000" cy="5842000"/>
          </a:xfrm>
          <a:prstGeom prst="roundRect">
            <a:avLst>
              <a:gd name="adj" fmla="val 1739"/>
            </a:avLst>
          </a:prstGeom>
          <a:solidFill>
            <a:srgbClr val="EAE6DF"/>
          </a:solidFill>
          <a:ln/>
        </p:spPr>
      </p:sp>
      <p:sp>
        <p:nvSpPr>
          <p:cNvPr id="5" name="practical_example-text-4"/>
          <p:cNvSpPr/>
          <p:nvPr/>
        </p:nvSpPr>
        <p:spPr>
          <a:xfrm>
            <a:off x="762000" y="1905000"/>
            <a:ext cx="685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rgbClr val="FF6F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A: Direct modification</a:t>
            </a:r>
            <a:endParaRPr lang="en-US" sz="2600" dirty="0"/>
          </a:p>
        </p:txBody>
      </p:sp>
      <p:sp>
        <p:nvSpPr>
          <p:cNvPr id="6" name="practical_example-shape-5"/>
          <p:cNvSpPr/>
          <p:nvPr/>
        </p:nvSpPr>
        <p:spPr>
          <a:xfrm>
            <a:off x="1016000" y="2540000"/>
            <a:ext cx="6350000" cy="889000"/>
          </a:xfrm>
          <a:prstGeom prst="roundRect">
            <a:avLst>
              <a:gd name="adj" fmla="val 5714"/>
            </a:avLst>
          </a:prstGeom>
          <a:solidFill>
            <a:srgbClr val="0B192C"/>
          </a:solidFill>
          <a:ln/>
        </p:spPr>
      </p:sp>
      <p:sp>
        <p:nvSpPr>
          <p:cNvPr id="7" name="practical_example-text-6"/>
          <p:cNvSpPr/>
          <p:nvPr/>
        </p:nvSpPr>
        <p:spPr>
          <a:xfrm>
            <a:off x="1016000" y="2667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needs delayed-delivery dashboard</a:t>
            </a:r>
            <a:endParaRPr lang="en-US" sz="1800" dirty="0"/>
          </a:p>
        </p:txBody>
      </p:sp>
      <p:sp>
        <p:nvSpPr>
          <p:cNvPr id="8" name="practical_example-shape-7"/>
          <p:cNvSpPr/>
          <p:nvPr/>
        </p:nvSpPr>
        <p:spPr>
          <a:xfrm>
            <a:off x="4191000" y="3619500"/>
            <a:ext cx="9144" cy="762000"/>
          </a:xfrm>
          <a:prstGeom prst="line">
            <a:avLst/>
          </a:prstGeom>
          <a:ln w="50800">
            <a:solidFill>
              <a:srgbClr val="FF6F61"/>
            </a:solidFill>
            <a:prstDash val="solid"/>
          </a:ln>
        </p:spPr>
      </p:sp>
      <p:sp>
        <p:nvSpPr>
          <p:cNvPr id="9" name="practical_example-shape-8"/>
          <p:cNvSpPr/>
          <p:nvPr/>
        </p:nvSpPr>
        <p:spPr>
          <a:xfrm>
            <a:off x="1016000" y="4572000"/>
            <a:ext cx="6350000" cy="889000"/>
          </a:xfrm>
          <a:prstGeom prst="roundRect">
            <a:avLst>
              <a:gd name="adj" fmla="val 5714"/>
            </a:avLst>
          </a:prstGeom>
          <a:solidFill>
            <a:srgbClr val="FF6F61"/>
          </a:solidFill>
          <a:ln/>
        </p:spPr>
      </p:sp>
      <p:sp>
        <p:nvSpPr>
          <p:cNvPr id="10" name="practical_example-text-9"/>
          <p:cNvSpPr/>
          <p:nvPr/>
        </p:nvSpPr>
        <p:spPr>
          <a:xfrm>
            <a:off x="1016000" y="4699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code added directly to SAP core</a:t>
            </a:r>
            <a:endParaRPr lang="en-US" sz="1800" dirty="0"/>
          </a:p>
        </p:txBody>
      </p:sp>
      <p:sp>
        <p:nvSpPr>
          <p:cNvPr id="11" name="practical_example-shape-10"/>
          <p:cNvSpPr/>
          <p:nvPr/>
        </p:nvSpPr>
        <p:spPr>
          <a:xfrm>
            <a:off x="4191000" y="5651500"/>
            <a:ext cx="9144" cy="762000"/>
          </a:xfrm>
          <a:prstGeom prst="line">
            <a:avLst/>
          </a:prstGeom>
          <a:ln w="50800">
            <a:solidFill>
              <a:srgbClr val="FF6F61"/>
            </a:solidFill>
            <a:prstDash val="solid"/>
          </a:ln>
        </p:spPr>
      </p:sp>
      <p:sp>
        <p:nvSpPr>
          <p:cNvPr id="12" name="practical_example-shape-11"/>
          <p:cNvSpPr/>
          <p:nvPr/>
        </p:nvSpPr>
        <p:spPr>
          <a:xfrm>
            <a:off x="1016000" y="6604000"/>
            <a:ext cx="6350000" cy="635000"/>
          </a:xfrm>
          <a:prstGeom prst="roundRect">
            <a:avLst>
              <a:gd name="adj" fmla="val 8000"/>
            </a:avLst>
          </a:prstGeom>
          <a:solidFill>
            <a:srgbClr val="EAE6DF"/>
          </a:solidFill>
          <a:ln w="25400">
            <a:solidFill>
              <a:srgbClr val="FF6F61"/>
            </a:solidFill>
            <a:prstDash val="solid"/>
          </a:ln>
        </p:spPr>
      </p:sp>
      <p:sp>
        <p:nvSpPr>
          <p:cNvPr id="13" name="practical_example-text-12"/>
          <p:cNvSpPr/>
          <p:nvPr/>
        </p:nvSpPr>
        <p:spPr>
          <a:xfrm>
            <a:off x="1016000" y="6731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F6F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conflicts, tight coupling, support risk</a:t>
            </a:r>
            <a:endParaRPr lang="en-US" sz="1700" dirty="0"/>
          </a:p>
        </p:txBody>
      </p:sp>
      <p:sp>
        <p:nvSpPr>
          <p:cNvPr id="14" name="practical_example-shape-13"/>
          <p:cNvSpPr/>
          <p:nvPr/>
        </p:nvSpPr>
        <p:spPr>
          <a:xfrm>
            <a:off x="8382000" y="1651000"/>
            <a:ext cx="7366000" cy="5842000"/>
          </a:xfrm>
          <a:prstGeom prst="roundRect">
            <a:avLst>
              <a:gd name="adj" fmla="val 1739"/>
            </a:avLst>
          </a:prstGeom>
          <a:solidFill>
            <a:srgbClr val="F9F8F6"/>
          </a:solidFill>
          <a:ln w="50800">
            <a:solidFill>
              <a:srgbClr val="0F766E"/>
            </a:solidFill>
            <a:prstDash val="solid"/>
          </a:ln>
        </p:spPr>
      </p:sp>
      <p:sp>
        <p:nvSpPr>
          <p:cNvPr id="15" name="practical_example-text-14"/>
          <p:cNvSpPr/>
          <p:nvPr/>
        </p:nvSpPr>
        <p:spPr>
          <a:xfrm>
            <a:off x="8636000" y="1905000"/>
            <a:ext cx="685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B: BTP side-by-side extension</a:t>
            </a:r>
            <a:endParaRPr lang="en-US" sz="2600" dirty="0"/>
          </a:p>
        </p:txBody>
      </p:sp>
      <p:sp>
        <p:nvSpPr>
          <p:cNvPr id="16" name="practical_example-shape-15"/>
          <p:cNvSpPr/>
          <p:nvPr/>
        </p:nvSpPr>
        <p:spPr>
          <a:xfrm>
            <a:off x="8890000" y="2540000"/>
            <a:ext cx="6350000" cy="889000"/>
          </a:xfrm>
          <a:prstGeom prst="roundRect">
            <a:avLst>
              <a:gd name="adj" fmla="val 5714"/>
            </a:avLst>
          </a:prstGeom>
          <a:solidFill>
            <a:srgbClr val="0B192C"/>
          </a:solidFill>
          <a:ln/>
        </p:spPr>
      </p:sp>
      <p:sp>
        <p:nvSpPr>
          <p:cNvPr id="17" name="practical_example-text-16"/>
          <p:cNvSpPr/>
          <p:nvPr/>
        </p:nvSpPr>
        <p:spPr>
          <a:xfrm>
            <a:off x="8890000" y="2667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needs delayed-delivery dashboard</a:t>
            </a:r>
            <a:endParaRPr lang="en-US" sz="1800" dirty="0"/>
          </a:p>
        </p:txBody>
      </p:sp>
      <p:sp>
        <p:nvSpPr>
          <p:cNvPr id="18" name="practical_example-shape-17"/>
          <p:cNvSpPr/>
          <p:nvPr/>
        </p:nvSpPr>
        <p:spPr>
          <a:xfrm>
            <a:off x="12065000" y="3619500"/>
            <a:ext cx="9144" cy="762000"/>
          </a:xfrm>
          <a:prstGeom prst="line">
            <a:avLst/>
          </a:prstGeom>
          <a:ln w="50800">
            <a:solidFill>
              <a:srgbClr val="0F766E"/>
            </a:solidFill>
            <a:prstDash val="solid"/>
          </a:ln>
        </p:spPr>
      </p:sp>
      <p:sp>
        <p:nvSpPr>
          <p:cNvPr id="19" name="practical_example-shape-18"/>
          <p:cNvSpPr/>
          <p:nvPr/>
        </p:nvSpPr>
        <p:spPr>
          <a:xfrm>
            <a:off x="8890000" y="4572000"/>
            <a:ext cx="6350000" cy="889000"/>
          </a:xfrm>
          <a:prstGeom prst="roundRect">
            <a:avLst>
              <a:gd name="adj" fmla="val 5714"/>
            </a:avLst>
          </a:prstGeom>
          <a:solidFill>
            <a:srgbClr val="EAB308"/>
          </a:solidFill>
          <a:ln/>
        </p:spPr>
      </p:sp>
      <p:sp>
        <p:nvSpPr>
          <p:cNvPr id="20" name="practical_example-text-19"/>
          <p:cNvSpPr/>
          <p:nvPr/>
        </p:nvSpPr>
        <p:spPr>
          <a:xfrm>
            <a:off x="8890000" y="4699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delivery API + BTP extension app</a:t>
            </a:r>
            <a:endParaRPr lang="en-US" sz="1800" dirty="0"/>
          </a:p>
        </p:txBody>
      </p:sp>
      <p:sp>
        <p:nvSpPr>
          <p:cNvPr id="21" name="practical_example-shape-20"/>
          <p:cNvSpPr/>
          <p:nvPr/>
        </p:nvSpPr>
        <p:spPr>
          <a:xfrm>
            <a:off x="12065000" y="5651500"/>
            <a:ext cx="9144" cy="762000"/>
          </a:xfrm>
          <a:prstGeom prst="line">
            <a:avLst/>
          </a:prstGeom>
          <a:ln w="50800">
            <a:solidFill>
              <a:srgbClr val="0F766E"/>
            </a:solidFill>
            <a:prstDash val="solid"/>
          </a:ln>
        </p:spPr>
      </p:sp>
      <p:sp>
        <p:nvSpPr>
          <p:cNvPr id="22" name="practical_example-shape-21"/>
          <p:cNvSpPr/>
          <p:nvPr/>
        </p:nvSpPr>
        <p:spPr>
          <a:xfrm>
            <a:off x="8890000" y="6604000"/>
            <a:ext cx="6350000" cy="635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23" name="practical_example-text-22"/>
          <p:cNvSpPr/>
          <p:nvPr/>
        </p:nvSpPr>
        <p:spPr>
          <a:xfrm>
            <a:off x="8890000" y="6731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stable, upgrade-safe, governed access</a:t>
            </a:r>
            <a:endParaRPr lang="en-US" sz="1700" dirty="0"/>
          </a:p>
        </p:txBody>
      </p:sp>
      <p:sp>
        <p:nvSpPr>
          <p:cNvPr id="24" name="practical_example-shape-23"/>
          <p:cNvSpPr/>
          <p:nvPr/>
        </p:nvSpPr>
        <p:spPr>
          <a:xfrm>
            <a:off x="508000" y="7747000"/>
            <a:ext cx="15240000" cy="635000"/>
          </a:xfrm>
          <a:prstGeom prst="roundRect">
            <a:avLst>
              <a:gd name="adj" fmla="val 8000"/>
            </a:avLst>
          </a:prstGeom>
          <a:solidFill>
            <a:srgbClr val="EAB308"/>
          </a:solidFill>
          <a:ln/>
        </p:spPr>
      </p:sp>
      <p:sp>
        <p:nvSpPr>
          <p:cNvPr id="25" name="practical_example-text-24"/>
          <p:cNvSpPr/>
          <p:nvPr/>
        </p:nvSpPr>
        <p:spPr>
          <a:xfrm>
            <a:off x="889000" y="7874000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core for transactions; use BTP for innovation and extensions.</a:t>
            </a:r>
            <a:endParaRPr lang="en-US" sz="1900" dirty="0"/>
          </a:p>
        </p:txBody>
      </p:sp>
      <p:sp>
        <p:nvSpPr>
          <p:cNvPr id="26" name="practical_example-text-25"/>
          <p:cNvSpPr/>
          <p:nvPr/>
        </p:nvSpPr>
        <p:spPr>
          <a:xfrm>
            <a:off x="508000" y="8712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SAP BTP Product Page</a:t>
            </a:r>
            <a:endParaRPr lang="en-US" sz="1200" dirty="0"/>
          </a:p>
        </p:txBody>
      </p:sp>
      <p:sp>
        <p:nvSpPr>
          <p:cNvPr id="27" name="practical_example-text-26"/>
          <p:cNvSpPr/>
          <p:nvPr/>
        </p:nvSpPr>
        <p:spPr>
          <a:xfrm>
            <a:off x="14986000" y="8712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keaway-shape-1"/>
          <p:cNvSpPr/>
          <p:nvPr/>
        </p:nvSpPr>
        <p:spPr>
          <a:xfrm>
            <a:off x="1270000" y="1270000"/>
            <a:ext cx="2540000" cy="9144"/>
          </a:xfrm>
          <a:prstGeom prst="line">
            <a:avLst/>
          </a:prstGeom>
          <a:ln w="101600">
            <a:solidFill>
              <a:srgbClr val="0F766E"/>
            </a:solidFill>
            <a:prstDash val="solid"/>
          </a:ln>
        </p:spPr>
      </p:sp>
      <p:sp>
        <p:nvSpPr>
          <p:cNvPr id="3" name="takeaway-text-2"/>
          <p:cNvSpPr/>
          <p:nvPr/>
        </p:nvSpPr>
        <p:spPr>
          <a:xfrm>
            <a:off x="1270000" y="165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 and design rules</a:t>
            </a:r>
            <a:endParaRPr lang="en-US" sz="3200" dirty="0"/>
          </a:p>
        </p:txBody>
      </p:sp>
      <p:sp>
        <p:nvSpPr>
          <p:cNvPr id="4" name="takeaway-text-3"/>
          <p:cNvSpPr/>
          <p:nvPr/>
        </p:nvSpPr>
        <p:spPr>
          <a:xfrm>
            <a:off x="1270000" y="2540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altLang="en-US" sz="2000" dirty="0">
                <a:solidFill>
                  <a:srgbClr val="EAE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the core does not mean preventing innovation. It means moving innovation to a governed platform layer where it can be built safely, tested, monitored, and maintained.</a:t>
            </a:r>
            <a:endParaRPr lang="en-US" sz="2000" dirty="0"/>
          </a:p>
        </p:txBody>
      </p:sp>
      <p:sp>
        <p:nvSpPr>
          <p:cNvPr id="5" name="takeaway-shape-4"/>
          <p:cNvSpPr/>
          <p:nvPr/>
        </p:nvSpPr>
        <p:spPr>
          <a:xfrm>
            <a:off x="1270000" y="3683000"/>
            <a:ext cx="12700000" cy="3810000"/>
          </a:xfrm>
          <a:prstGeom prst="roundRect">
            <a:avLst>
              <a:gd name="adj" fmla="val 2667"/>
            </a:avLst>
          </a:prstGeom>
          <a:solidFill>
            <a:srgbClr val="F9F8F6"/>
          </a:solidFill>
          <a:ln/>
        </p:spPr>
      </p:sp>
      <p:sp>
        <p:nvSpPr>
          <p:cNvPr id="6" name="takeaway-text-5"/>
          <p:cNvSpPr/>
          <p:nvPr/>
        </p:nvSpPr>
        <p:spPr>
          <a:xfrm>
            <a:off x="1778000" y="4064000"/>
            <a:ext cx="1168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design rules for clean-core extensions</a:t>
            </a:r>
            <a:endParaRPr lang="en-US" sz="2400" dirty="0"/>
          </a:p>
        </p:txBody>
      </p:sp>
      <p:sp>
        <p:nvSpPr>
          <p:cNvPr id="7" name="takeaway-text-6"/>
          <p:cNvSpPr/>
          <p:nvPr/>
        </p:nvSpPr>
        <p:spPr>
          <a:xfrm>
            <a:off x="1778000" y="4826000"/>
            <a:ext cx="1168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released APIs and events for core access.</a:t>
            </a:r>
            <a:endParaRPr lang="en-US" sz="1900" dirty="0"/>
          </a:p>
        </p:txBody>
      </p:sp>
      <p:sp>
        <p:nvSpPr>
          <p:cNvPr id="8" name="takeaway-text-7"/>
          <p:cNvSpPr/>
          <p:nvPr/>
        </p:nvSpPr>
        <p:spPr>
          <a:xfrm>
            <a:off x="1778000" y="5588000"/>
            <a:ext cx="1168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extensions and custom apps side-by-side on BTP.</a:t>
            </a:r>
            <a:endParaRPr lang="en-US" sz="1900" dirty="0"/>
          </a:p>
        </p:txBody>
      </p:sp>
      <p:sp>
        <p:nvSpPr>
          <p:cNvPr id="9" name="takeaway-text-8"/>
          <p:cNvSpPr/>
          <p:nvPr/>
        </p:nvSpPr>
        <p:spPr>
          <a:xfrm>
            <a:off x="1778000" y="6350000"/>
            <a:ext cx="1168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Enforce identity, authorization, and audit logging from day one.</a:t>
            </a:r>
            <a:endParaRPr lang="en-US" sz="1900" dirty="0"/>
          </a:p>
        </p:txBody>
      </p:sp>
      <p:sp>
        <p:nvSpPr>
          <p:cNvPr id="10" name="takeaway-text-9"/>
          <p:cNvSpPr/>
          <p:nvPr/>
        </p:nvSpPr>
        <p:spPr>
          <a:xfrm>
            <a:off x="1778000" y="7112000"/>
            <a:ext cx="1168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r>
              <a:rPr lang="en-US" altLang="en-US" sz="1900" dirty="0">
                <a:solidFill>
                  <a:srgbClr val="0B19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Separate development, test, and production with lifecycle controls.</a:t>
            </a:r>
            <a:endParaRPr lang="en-US" sz="1900" dirty="0"/>
          </a:p>
        </p:txBody>
      </p:sp>
      <p:sp>
        <p:nvSpPr>
          <p:cNvPr id="11" name="takeaway-text-10"/>
          <p:cNvSpPr/>
          <p:nvPr/>
        </p:nvSpPr>
        <p:spPr>
          <a:xfrm>
            <a:off x="1270000" y="812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AE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Rajkumar Rajagobalan</a:t>
            </a:r>
            <a:endParaRPr lang="en-US" sz="1400" dirty="0"/>
          </a:p>
        </p:txBody>
      </p:sp>
      <p:sp>
        <p:nvSpPr>
          <p:cNvPr id="12" name="takeaway-text-11"/>
          <p:cNvSpPr/>
          <p:nvPr/>
        </p:nvSpPr>
        <p:spPr>
          <a:xfrm>
            <a:off x="11176000" y="81280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AE6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SAP BTP Product Page • 08 / 08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 the Core and Platform Foundation</dc:title>
  <dc:subject>Protect the Core and Platform Foundation</dc:subject>
  <dc:creator>Manus</dc:creator>
  <cp:lastModifiedBy>Manus</cp:lastModifiedBy>
  <cp:revision>1</cp:revision>
  <dcterms:created xsi:type="dcterms:W3CDTF">2026-09-17T08:31:51Z</dcterms:created>
  <dcterms:modified xsi:type="dcterms:W3CDTF">2026-09-17T08:31:51Z</dcterms:modified>
</cp:coreProperties>
</file>