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069207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 ACADEMY · HANDS-ON COURSE FOR SAP ENGINEERS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424807"/>
            <a:ext cx="9525000" cy="68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6"/>
              </a:lnSpc>
              <a:buNone/>
            </a:pPr>
            <a:r>
              <a:rPr lang="en-US" sz="5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AI on SAP BTP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282752"/>
            <a:ext cx="837882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read-only order advisor with Claude, MCP and RAG, using the Northwind sample data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5486499"/>
            <a:ext cx="105664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Rajkumar Rajagobalan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33465C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retrieval-augmented generation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be able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050455"/>
            <a:ext cx="5194300" cy="1231801"/>
          </a:xfrm>
          <a:prstGeom prst="roundRect">
            <a:avLst>
              <a:gd name="adj" fmla="val 7217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700" y="2266355"/>
            <a:ext cx="476250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the foundation comes first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8700" y="2586335"/>
            <a:ext cx="4833937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 identity, connectivity and audit on BTP to the clean-core idea you already know.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4900" y="2050455"/>
            <a:ext cx="5194300" cy="1231801"/>
          </a:xfrm>
          <a:prstGeom prst="roundRect">
            <a:avLst>
              <a:gd name="adj" fmla="val 7217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266355"/>
            <a:ext cx="476250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facts from policy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86335"/>
            <a:ext cx="4833937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belongs behind a tool call and what belongs in a searchable document store.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460055"/>
            <a:ext cx="5194300" cy="1231801"/>
          </a:xfrm>
          <a:prstGeom prst="roundRect">
            <a:avLst>
              <a:gd name="adj" fmla="val 7217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8700" y="3675955"/>
            <a:ext cx="476250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advisor end to end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995936"/>
            <a:ext cx="4833937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Sign-in, agent, two MCP servers, a policy store in SAP HANA Cloud, and Claude as the model.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4900" y="3460055"/>
            <a:ext cx="5194300" cy="1231801"/>
          </a:xfrm>
          <a:prstGeom prst="roundRect">
            <a:avLst>
              <a:gd name="adj" fmla="val 7217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675955"/>
            <a:ext cx="476250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that it behaves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995936"/>
            <a:ext cx="4833937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it, run 32 evaluation questions, and read the audit trail of every answer.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4920456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need: working knowledge of SAP development, basic Python, and a BTP trial account. No S/4HANA system is used.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00" y="611901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812800" y="6207919"/>
            <a:ext cx="102949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ERP suite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209635" y="620791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OF BTP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priorities, in the order to tackle them¹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13297"/>
            <a:ext cx="10566400" cy="692745"/>
          </a:xfrm>
          <a:prstGeom prst="roundRect">
            <a:avLst>
              <a:gd name="adj" fmla="val 12833"/>
            </a:avLst>
          </a:prstGeom>
          <a:solidFill>
            <a:srgbClr val="FFF4DD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3300" y="1800920"/>
            <a:ext cx="3048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85900" y="1727597"/>
            <a:ext cx="970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core and platform foundation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5900" y="1968897"/>
            <a:ext cx="97028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identity, security and operations, so teams build without modifying core systems.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2382242"/>
            <a:ext cx="10566400" cy="692745"/>
          </a:xfrm>
          <a:prstGeom prst="roundRect">
            <a:avLst>
              <a:gd name="adj" fmla="val 12833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3300" y="2569865"/>
            <a:ext cx="3048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85900" y="2496542"/>
            <a:ext cx="970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the enterprise landscape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85900" y="2737842"/>
            <a:ext cx="97028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SAP and non-SAP applications, APIs, events and processes.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151188"/>
            <a:ext cx="10566400" cy="692745"/>
          </a:xfrm>
          <a:prstGeom prst="roundRect">
            <a:avLst>
              <a:gd name="adj" fmla="val 12833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3300" y="3338810"/>
            <a:ext cx="3048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85900" y="3265488"/>
            <a:ext cx="970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business data and context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5900" y="3506788"/>
            <a:ext cx="97028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business data together for analytics, applications and decisions.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920133"/>
            <a:ext cx="10566400" cy="692745"/>
          </a:xfrm>
          <a:prstGeom prst="roundRect">
            <a:avLst>
              <a:gd name="adj" fmla="val 12833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3300" y="4107755"/>
            <a:ext cx="3048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85900" y="4034433"/>
            <a:ext cx="970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business processes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85900" y="4275733"/>
            <a:ext cx="97028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manual handoffs with governed, reusable workflows.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4689078"/>
            <a:ext cx="10566400" cy="692745"/>
          </a:xfrm>
          <a:prstGeom prst="roundRect">
            <a:avLst>
              <a:gd name="adj" fmla="val 12833"/>
            </a:avLst>
          </a:prstGeom>
          <a:solidFill>
            <a:srgbClr val="FFFE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3300" y="4876701"/>
            <a:ext cx="3048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485900" y="4803378"/>
            <a:ext cx="970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governed AI innovation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5900" y="5044678"/>
            <a:ext cx="97028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applications and agents grounded in approved business context.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800" y="611901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812800" y="6207919"/>
            <a:ext cx="102949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sequence is the author's framework, informed by SAP's BTP product documentation. It is not an SAP-published order.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209635" y="620791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· PROTECT THE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business core?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480965"/>
            <a:ext cx="5156200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is the system of record: it runs the essential transactions and holds the authoritative data. For many SAP customers that is S/4HANA and the systems connected to it.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353395"/>
            <a:ext cx="515620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poorly designed custom code, uncontrolled integrations or insecure access reach the core, the results are operational disruption, inconsistent data, security exposure and harder upgrades.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465836"/>
            <a:ext cx="515620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here is not negotiable. Every change must be governed.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99200" y="2480965"/>
            <a:ext cx="2476500" cy="584200"/>
          </a:xfrm>
          <a:prstGeom prst="roundRect">
            <a:avLst>
              <a:gd name="adj" fmla="val 13043"/>
            </a:avLst>
          </a:prstGeom>
          <a:solidFill>
            <a:srgbClr val="0B19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26200" y="2671465"/>
            <a:ext cx="2222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and accounting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02700" y="2480965"/>
            <a:ext cx="2476500" cy="584200"/>
          </a:xfrm>
          <a:prstGeom prst="roundRect">
            <a:avLst>
              <a:gd name="adj" fmla="val 13043"/>
            </a:avLst>
          </a:prstGeom>
          <a:solidFill>
            <a:srgbClr val="0B19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29700" y="2671465"/>
            <a:ext cx="2222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Order-to-cash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9200" y="3192165"/>
            <a:ext cx="2476500" cy="584200"/>
          </a:xfrm>
          <a:prstGeom prst="roundRect">
            <a:avLst>
              <a:gd name="adj" fmla="val 13043"/>
            </a:avLst>
          </a:prstGeom>
          <a:solidFill>
            <a:srgbClr val="0B19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6200" y="3382665"/>
            <a:ext cx="2222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02700" y="3192165"/>
            <a:ext cx="2476500" cy="584200"/>
          </a:xfrm>
          <a:prstGeom prst="roundRect">
            <a:avLst>
              <a:gd name="adj" fmla="val 13043"/>
            </a:avLst>
          </a:prstGeom>
          <a:solidFill>
            <a:srgbClr val="0B19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29700" y="3382665"/>
            <a:ext cx="2222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99200" y="3903365"/>
            <a:ext cx="2476500" cy="584200"/>
          </a:xfrm>
          <a:prstGeom prst="roundRect">
            <a:avLst>
              <a:gd name="adj" fmla="val 13043"/>
            </a:avLst>
          </a:prstGeom>
          <a:solidFill>
            <a:srgbClr val="0B19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26200" y="4093865"/>
            <a:ext cx="2222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02700" y="3903365"/>
            <a:ext cx="2476500" cy="584200"/>
          </a:xfrm>
          <a:prstGeom prst="roundRect">
            <a:avLst>
              <a:gd name="adj" fmla="val 13043"/>
            </a:avLst>
          </a:prstGeom>
          <a:solidFill>
            <a:srgbClr val="0B19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29700" y="4093865"/>
            <a:ext cx="2222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ERP suite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· PROTECT THE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core needs protection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335213"/>
            <a:ext cx="2508250" cy="1471811"/>
          </a:xfrm>
          <a:prstGeom prst="roundRect">
            <a:avLst>
              <a:gd name="adj" fmla="val 6040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700" y="2551113"/>
            <a:ext cx="207645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conflicts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8700" y="2871093"/>
            <a:ext cx="210759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changes break, or need rework, whenever SAP ships an update.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8850" y="2335213"/>
            <a:ext cx="2508250" cy="1471811"/>
          </a:xfrm>
          <a:prstGeom prst="roundRect">
            <a:avLst>
              <a:gd name="adj" fmla="val 6040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14750" y="2551113"/>
            <a:ext cx="207645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coupling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714750" y="2871093"/>
            <a:ext cx="210759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 depend on internal tables and logic that SAP may change.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4900" y="2335213"/>
            <a:ext cx="2508250" cy="1471811"/>
          </a:xfrm>
          <a:prstGeom prst="roundRect">
            <a:avLst>
              <a:gd name="adj" fmla="val 6040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551113"/>
            <a:ext cx="207645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burden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71093"/>
            <a:ext cx="210759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teams inherit unfamiliar code long after its authors have left.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70950" y="2335213"/>
            <a:ext cx="2508250" cy="1471811"/>
          </a:xfrm>
          <a:prstGeom prst="roundRect">
            <a:avLst>
              <a:gd name="adj" fmla="val 6040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6850" y="2551113"/>
            <a:ext cx="207645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exposure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086850" y="2871093"/>
            <a:ext cx="210759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access can bypass the authorization checks the core relies on.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4035623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modification solves today's request and creates these four long-term costs.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00" y="4504234"/>
            <a:ext cx="10566400" cy="587375"/>
          </a:xfrm>
          <a:prstGeom prst="roundRect">
            <a:avLst>
              <a:gd name="adj" fmla="val 15135"/>
            </a:avLst>
          </a:prstGeom>
          <a:solidFill>
            <a:srgbClr val="EAB30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6000" y="4669334"/>
            <a:ext cx="1016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business problems without giving up core stability or upgrade readiness.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· PROTECT THE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clean-core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068215"/>
            <a:ext cx="4400550" cy="2821880"/>
          </a:xfrm>
          <a:prstGeom prst="roundRect">
            <a:avLst>
              <a:gd name="adj" fmla="val 3600"/>
            </a:avLst>
          </a:prstGeom>
          <a:solidFill>
            <a:srgbClr val="EAE6E0"/>
          </a:solidFill>
          <a:ln w="19050">
            <a:solidFill>
              <a:srgbClr val="0B19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5050" y="2290465"/>
            <a:ext cx="395605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core · system of record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5050" y="2635845"/>
            <a:ext cx="3956050" cy="431800"/>
          </a:xfrm>
          <a:prstGeom prst="roundRect">
            <a:avLst>
              <a:gd name="adj" fmla="val 14706"/>
            </a:avLst>
          </a:prstGeom>
          <a:solidFill>
            <a:srgbClr val="0B19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4750" y="2750145"/>
            <a:ext cx="36766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processes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35050" y="3169245"/>
            <a:ext cx="3956050" cy="431800"/>
          </a:xfrm>
          <a:prstGeom prst="roundRect">
            <a:avLst>
              <a:gd name="adj" fmla="val 14706"/>
            </a:avLst>
          </a:prstGeom>
          <a:solidFill>
            <a:srgbClr val="0B19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50" y="3283545"/>
            <a:ext cx="36766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transaction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35050" y="3702645"/>
            <a:ext cx="3956050" cy="431800"/>
          </a:xfrm>
          <a:prstGeom prst="roundRect">
            <a:avLst>
              <a:gd name="adj" fmla="val 14706"/>
            </a:avLst>
          </a:prstGeom>
          <a:solidFill>
            <a:srgbClr val="EAB30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50" y="3816945"/>
            <a:ext cx="36766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APIs and events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5050" y="4236045"/>
            <a:ext cx="3956050" cy="431800"/>
          </a:xfrm>
          <a:prstGeom prst="roundRect">
            <a:avLst>
              <a:gd name="adj" fmla="val 14706"/>
            </a:avLst>
          </a:prstGeom>
          <a:solidFill>
            <a:srgbClr val="EAB30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50" y="4350345"/>
            <a:ext cx="36766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extension points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65750" y="3231455"/>
            <a:ext cx="1460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access only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61000" y="3714055"/>
            <a:ext cx="12700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78650" y="2068215"/>
            <a:ext cx="4400550" cy="2821880"/>
          </a:xfrm>
          <a:prstGeom prst="roundRect">
            <a:avLst>
              <a:gd name="adj" fmla="val 3600"/>
            </a:avLst>
          </a:prstGeom>
          <a:solidFill>
            <a:srgbClr val="E3F1E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00900" y="2290465"/>
            <a:ext cx="395605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· innovation layer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00900" y="2635845"/>
            <a:ext cx="3956050" cy="431800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40600" y="2750145"/>
            <a:ext cx="36766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apps and extensions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00900" y="3169245"/>
            <a:ext cx="3956050" cy="431800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40600" y="3283545"/>
            <a:ext cx="36766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and workflow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00900" y="3702645"/>
            <a:ext cx="3956050" cy="431800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40600" y="3816945"/>
            <a:ext cx="36766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services and agents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00900" y="4236045"/>
            <a:ext cx="3956050" cy="431800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40600" y="4350345"/>
            <a:ext cx="36766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monitoring, lifecycle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12800" y="5118695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stays standard and stable. New capability is built beside it and reaches it only through supported interfaces.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· PLATFORM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platform foundation provides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997770"/>
            <a:ext cx="5207000" cy="1405136"/>
          </a:xfrm>
          <a:prstGeom prst="roundRect">
            <a:avLst>
              <a:gd name="adj" fmla="val 6327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700" y="221367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access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28700" y="2518470"/>
            <a:ext cx="4822952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authorization, least privilege</a:t>
            </a:r>
            <a:endParaRPr lang="en-US" sz="1300" dirty="0"/>
          </a:p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central sign-in</a:t>
            </a:r>
            <a:endParaRPr lang="en-US" sz="1300" dirty="0"/>
          </a:p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of who did what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997770"/>
            <a:ext cx="5207000" cy="1405136"/>
          </a:xfrm>
          <a:prstGeom prst="roundRect">
            <a:avLst>
              <a:gd name="adj" fmla="val 6327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8100" y="221367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and integration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88100" y="2518470"/>
            <a:ext cx="4822952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destinations, no credentials in code</a:t>
            </a:r>
            <a:endParaRPr lang="en-US" sz="1300" dirty="0"/>
          </a:p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APIs and events</a:t>
            </a:r>
            <a:endParaRPr lang="en-US" sz="1300" dirty="0"/>
          </a:p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error handling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555305"/>
            <a:ext cx="5207000" cy="1405136"/>
          </a:xfrm>
          <a:prstGeom prst="roundRect">
            <a:avLst>
              <a:gd name="adj" fmla="val 6327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8700" y="3771205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and lifecycle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4076005"/>
            <a:ext cx="4822952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development, test and production</a:t>
            </a:r>
            <a:endParaRPr lang="en-US" sz="1300" dirty="0"/>
          </a:p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and automated tests</a:t>
            </a:r>
            <a:endParaRPr lang="en-US" sz="1300" dirty="0"/>
          </a:p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release and rollback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555305"/>
            <a:ext cx="5207000" cy="1405136"/>
          </a:xfrm>
          <a:prstGeom prst="roundRect">
            <a:avLst>
              <a:gd name="adj" fmla="val 6327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8100" y="3771205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and monitoring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88100" y="4076005"/>
            <a:ext cx="4822952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and performance monitoring</a:t>
            </a:r>
            <a:endParaRPr lang="en-US" sz="1300" dirty="0"/>
          </a:p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logs and tracing</a:t>
            </a:r>
            <a:endParaRPr lang="en-US" sz="1300" dirty="0"/>
          </a:p>
          <a:p>
            <a:pPr algn="l" marL="181610" indent="-181610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and incident response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5189041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these controls, innovation creates unmanaged risk. The labs use every one of the first two groups.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PRIORITY 1 TO PRIORITY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raises the stakes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168624"/>
            <a:ext cx="1767880" cy="889000"/>
          </a:xfrm>
          <a:prstGeom prst="roundRect">
            <a:avLst>
              <a:gd name="adj" fmla="val 8571"/>
            </a:avLst>
          </a:prstGeom>
          <a:solidFill>
            <a:srgbClr val="EAB30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2356" y="2308324"/>
            <a:ext cx="124866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Foundation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27100" y="2562324"/>
            <a:ext cx="1539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operations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6880" y="2613124"/>
            <a:ext cx="2794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2480" y="2168624"/>
            <a:ext cx="1767880" cy="88900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8329" y="2308324"/>
            <a:ext cx="1196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Integration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11922" y="2562324"/>
            <a:ext cx="116889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8E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systems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56559" y="2613124"/>
            <a:ext cx="2794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159" y="2168624"/>
            <a:ext cx="1767880" cy="88900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83659" y="2308324"/>
            <a:ext cx="62478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55568" y="2562324"/>
            <a:ext cx="88096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8E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56239" y="2613124"/>
            <a:ext cx="2794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11839" y="2168624"/>
            <a:ext cx="1767880" cy="88900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64252" y="2308324"/>
            <a:ext cx="126295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Automation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25680" y="2562324"/>
            <a:ext cx="9400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8E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5919" y="2613124"/>
            <a:ext cx="2794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11519" y="2168624"/>
            <a:ext cx="1767880" cy="88900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26724" y="2308324"/>
            <a:ext cx="133746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Governed AI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49929" y="2562324"/>
            <a:ext cx="14910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8E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and assistants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286224"/>
            <a:ext cx="10724896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reads business data is the newest kind of extension. Without the foundation, it is an uncontrolled one.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12800" y="4076005"/>
            <a:ext cx="3403600" cy="1182291"/>
          </a:xfrm>
          <a:prstGeom prst="roundRect">
            <a:avLst>
              <a:gd name="adj" fmla="val 751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8700" y="4291905"/>
            <a:ext cx="2971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identity is asking?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28700" y="4596705"/>
            <a:ext cx="3016377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lab: the signed-in employee, never a shared technical user.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94200" y="4076005"/>
            <a:ext cx="3403600" cy="1182291"/>
          </a:xfrm>
          <a:prstGeom prst="roundRect">
            <a:avLst>
              <a:gd name="adj" fmla="val 751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0100" y="4291905"/>
            <a:ext cx="2971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data may it read?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10100" y="4596705"/>
            <a:ext cx="3016377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rows and documents that this employee may already see.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75600" y="4076005"/>
            <a:ext cx="3403600" cy="1182291"/>
          </a:xfrm>
          <a:prstGeom prst="roundRect">
            <a:avLst>
              <a:gd name="adj" fmla="val 751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1500" y="4291905"/>
            <a:ext cx="2971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actions may it take?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91500" y="4596705"/>
            <a:ext cx="3016377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None. The assistant is read-only by design.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448719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804319"/>
            <a:ext cx="889000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our choice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568799"/>
            <a:ext cx="773430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concrete business question, three feasible ways to answer it, and the one we will build.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33465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we want answered safely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28192"/>
            <a:ext cx="5105400" cy="2289572"/>
          </a:xfrm>
          <a:prstGeom prst="roundRect">
            <a:avLst>
              <a:gd name="adj" fmla="val 4438"/>
            </a:avLst>
          </a:prstGeom>
          <a:solidFill>
            <a:srgbClr val="0B19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2200" y="2007592"/>
            <a:ext cx="4546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SALES EMPLOYEE ASKS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312392"/>
            <a:ext cx="461479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order 11019 be expedited?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92200" y="3292673"/>
            <a:ext cx="461479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Traders is our fictional specialty-food wholesaler. The data is the Northwind sample database.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73800" y="1728192"/>
            <a:ext cx="5105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ANSWER NEEDS THREE THINGS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3800" y="2007592"/>
            <a:ext cx="5105400" cy="857845"/>
          </a:xfrm>
          <a:prstGeom prst="roundRect">
            <a:avLst>
              <a:gd name="adj" fmla="val 10363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8900" y="2172692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facts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38900" y="2477492"/>
            <a:ext cx="47752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date, carrier, freight, and stock on hand for every 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3800" y="2967038"/>
            <a:ext cx="5105400" cy="1080691"/>
          </a:xfrm>
          <a:prstGeom prst="roundRect">
            <a:avLst>
              <a:gd name="adj" fmla="val 8226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8900" y="3132138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38900" y="3436938"/>
            <a:ext cx="4846828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expedite is allowed, what it costs, and who must approve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3800" y="4149328"/>
            <a:ext cx="5105400" cy="1080691"/>
          </a:xfrm>
          <a:prstGeom prst="roundRect">
            <a:avLst>
              <a:gd name="adj" fmla="val 8226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8900" y="4314428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38900" y="4619228"/>
            <a:ext cx="4846828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this employee may see. The assistant advises; it never approves.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2800" y="5458619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holds all three, and a model on its own will invent the first two.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knowledge, two access paths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01180"/>
          <a:ext cx="10566400" cy="914400"/>
        </p:xfrm>
        <a:graphic>
          <a:graphicData uri="http://schemas.openxmlformats.org/drawingml/2006/table">
            <a:tbl>
              <a:tblPr/>
              <a:tblGrid>
                <a:gridCol w="1900734"/>
                <a:gridCol w="4329609"/>
                <a:gridCol w="4329708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facts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knowledge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 order 11019 shipped? Is it in stock?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may an order be expedited?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minute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few times a year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Lives 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Northwind tables in SAP HANA Cloud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documents, stored as embeddings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Reached through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tool call over MCP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(RAG)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swapped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 quote numbers that are already stale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 are hard-coded into tools and hard to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885630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split is the central design decision of the course. Every lab builds one side of it, and the capstone joins them.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 txBox="1"/>
          <p:nvPr/>
        </p:nvSpPr>
        <p:spPr>
          <a:xfrm>
            <a:off x="812800" y="6405959"/>
            <a:ext cx="1015414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retrieval-augmented generation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220946" y="6405959"/>
            <a:ext cx="15825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FEASIBLE SOLUTIONS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Options, with strengths and weaknesses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68872"/>
            <a:ext cx="3420566" cy="3457377"/>
          </a:xfrm>
          <a:prstGeom prst="roundRect">
            <a:avLst>
              <a:gd name="adj" fmla="val 259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3300" y="1959372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3300" y="2200672"/>
            <a:ext cx="303956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SAP's built-in assistant¹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3300" y="2523232"/>
            <a:ext cx="303956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Configure, do not build.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3300" y="2809577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3300" y="3050877"/>
            <a:ext cx="306996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to build and run</a:t>
            </a:r>
            <a:endParaRPr lang="en-US" sz="1400" dirty="0"/>
          </a:p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and governed by SAP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3300" y="3594398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3300" y="3835698"/>
            <a:ext cx="3069962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control over retrieval and tools</a:t>
            </a:r>
            <a:endParaRPr lang="en-US" sz="1400" dirty="0"/>
          </a:p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the mechanics we want to learn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5766" y="1768872"/>
            <a:ext cx="3420566" cy="3457377"/>
          </a:xfrm>
          <a:prstGeom prst="roundRect">
            <a:avLst>
              <a:gd name="adj" fmla="val 259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6266" y="1959372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6266" y="2200672"/>
            <a:ext cx="303956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outside BTP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6266" y="2523232"/>
            <a:ext cx="303956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only signs the user in.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6266" y="2809577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6266" y="3050877"/>
            <a:ext cx="3069962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Widest choice of open-source tooling</a:t>
            </a:r>
            <a:endParaRPr lang="en-US" sz="1400" dirty="0"/>
          </a:p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prototype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6266" y="3834408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6266" y="4075708"/>
            <a:ext cx="3069962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identity must be carried to a second platform</a:t>
            </a:r>
            <a:endParaRPr lang="en-US" sz="1400" dirty="0"/>
          </a:p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and audit trail split across two places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58733" y="1768872"/>
            <a:ext cx="3420566" cy="3457377"/>
          </a:xfrm>
          <a:prstGeom prst="roundRect">
            <a:avLst>
              <a:gd name="adj" fmla="val 2599"/>
            </a:avLst>
          </a:prstGeom>
          <a:solidFill>
            <a:srgbClr val="FFF4DD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9233" y="1959372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 · OUR CHOICE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9233" y="2200672"/>
            <a:ext cx="303956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side by side on BTP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49233" y="2523232"/>
            <a:ext cx="303956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Agent, tools and RAG all on BTP.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49233" y="2809577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49233" y="3050877"/>
            <a:ext cx="3069962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for identity, data and audit</a:t>
            </a:r>
            <a:endParaRPr lang="en-US" sz="1400" dirty="0"/>
          </a:p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SAP skills: CAP, HANA, destinations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149233" y="4074418"/>
            <a:ext cx="3039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49233" y="4315718"/>
            <a:ext cx="306996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setup before the first answer</a:t>
            </a:r>
            <a:endParaRPr lang="en-US" sz="1400" dirty="0"/>
          </a:p>
          <a:p>
            <a:pPr algn="l" marL="195580" indent="-19558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ready-made parts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2800" y="611901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812800" y="6207919"/>
            <a:ext cx="102949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retrieval-augmented generation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Joule. Assessed against this course's learning goals only; this is not a product comparison.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209635" y="620791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CHOICE FOR THE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side by side on BTP, read-only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333625"/>
            <a:ext cx="3145282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 keeps identity, data and audit on one platform, and it shows every moving part. That makes it the best teaching vehicle and a sound production pattern.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814564"/>
            <a:ext cx="3145282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it simple by keeping it read-only. A wrong answer can mislead; it cannot change an order.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114800" y="2333625"/>
            <a:ext cx="3530600" cy="2543770"/>
          </a:xfrm>
          <a:prstGeom prst="roundRect">
            <a:avLst>
              <a:gd name="adj" fmla="val 3495"/>
            </a:avLst>
          </a:prstGeom>
          <a:solidFill>
            <a:srgbClr val="E3F1E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30700" y="2549525"/>
            <a:ext cx="309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build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30700" y="2854325"/>
            <a:ext cx="3129788" cy="149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 page behind BTP sign-in</a:t>
            </a:r>
            <a:endParaRPr lang="en-US" sz="1450" dirty="0"/>
          </a:p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plans, retrieves and checks</a:t>
            </a:r>
            <a:endParaRPr lang="en-US" sz="1450" dirty="0"/>
          </a:p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read-only MCP servers</a:t>
            </a:r>
            <a:endParaRPr lang="en-US" sz="1450" dirty="0"/>
          </a:p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policy store in SAP HANA Cloud</a:t>
            </a:r>
            <a:endParaRPr lang="en-US" sz="1450" dirty="0"/>
          </a:p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trail of every answer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848600" y="2333625"/>
            <a:ext cx="3530600" cy="2543770"/>
          </a:xfrm>
          <a:prstGeom prst="roundRect">
            <a:avLst>
              <a:gd name="adj" fmla="val 3495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64500" y="2549525"/>
            <a:ext cx="309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not build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64500" y="2854325"/>
            <a:ext cx="3129788" cy="173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writes to orders or stock</a:t>
            </a:r>
            <a:endParaRPr lang="en-US" sz="1450" dirty="0"/>
          </a:p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Approvals, or messages to customers</a:t>
            </a:r>
            <a:endParaRPr lang="en-US" sz="1450" dirty="0"/>
          </a:p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Free-form database or web access for the model</a:t>
            </a:r>
            <a:endParaRPr lang="en-US" sz="1450" dirty="0"/>
          </a:p>
          <a:p>
            <a:pPr algn="l" marL="202565" indent="-202565">
              <a:lnSpc>
                <a:spcPts val="1958"/>
              </a:lnSpc>
              <a:buSzPct val="100000"/>
              <a:buChar char="•"/>
            </a:pPr>
            <a:r>
              <a:rPr lang="en-US" sz="145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connection to S/4HANA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2800" y="611901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812800" y="6207919"/>
            <a:ext cx="102949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ERP suite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209635" y="620791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CHOICE FOR THE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tracks, decided by your BTP account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31392"/>
          <a:ext cx="10566400" cy="914400"/>
        </p:xfrm>
        <a:graphic>
          <a:graphicData uri="http://schemas.openxmlformats.org/drawingml/2006/table">
            <a:tbl>
              <a:tblPr/>
              <a:tblGrid>
                <a:gridCol w="1478359"/>
                <a:gridCol w="4435177"/>
                <a:gridCol w="4646513"/>
              </a:tblGrid>
              <a:tr h="323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with SAP AI Core¹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BTP trial account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5199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access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Generative AI Hub, which brokers the call to Claude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called directly; the key is held in the Destination service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199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VECTOR_EMBEDDING², or an embedding model from the hub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HANA Cloud's built-in VECTOR_EMBEDDING function²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5199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Audit Log service where entitled, else the audit table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audit table in SAP HANA Cloud, plus application logs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23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Guardrails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hub's masking and filters, plus checks in the agent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 written by hand in the agent workflow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2870" marR="102870" marT="60007" marB="60007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372173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model client differs between the two tracks. The agent, both servers, the documents and the labs are identical.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4840784"/>
            <a:ext cx="105664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limits³:</a:t>
            </a:r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 days, 4 gigabytes of application memory, and applications stop every night and must be restarted.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12800" y="5920978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 txBox="1"/>
          <p:nvPr/>
        </p:nvSpPr>
        <p:spPr>
          <a:xfrm>
            <a:off x="812800" y="6009878"/>
            <a:ext cx="1029497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Cockpit: Entitlements, SAP AI Core, plan extended. Not offered on trial.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Needs the language-processing option at instance creation (SAP Note 3527706).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³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Source: SAP Help Portal.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209635" y="6009878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448719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804319"/>
            <a:ext cx="889000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568799"/>
            <a:ext cx="773430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architecture, the path one question takes through it, and the claims we will put to the test.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33465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Client, BTP sign-in, agent on BTP, RAG on BTP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08200" y="2227560"/>
            <a:ext cx="9271000" cy="3162300"/>
          </a:xfrm>
          <a:prstGeom prst="roundRect">
            <a:avLst>
              <a:gd name="adj" fmla="val 3614"/>
            </a:avLst>
          </a:prstGeom>
          <a:solidFill>
            <a:srgbClr val="EAE6E0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35200" y="2291060"/>
            <a:ext cx="127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11600" y="1516360"/>
            <a:ext cx="1587500" cy="533400"/>
          </a:xfrm>
          <a:prstGeom prst="roundRect">
            <a:avLst>
              <a:gd name="adj" fmla="val 14286"/>
            </a:avLst>
          </a:prstGeom>
          <a:solidFill>
            <a:srgbClr val="FFFEFB"/>
          </a:solidFill>
          <a:ln w="19050">
            <a:solidFill>
              <a:srgbClr val="0B19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10856" y="1688108"/>
            <a:ext cx="78898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Claude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38800" y="1516360"/>
            <a:ext cx="5800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BTP; reached through the Generative AI Hub or, on a trial account, directly. Receives the question and the evidence only.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3103860"/>
            <a:ext cx="1143000" cy="889000"/>
          </a:xfrm>
          <a:prstGeom prst="roundRect">
            <a:avLst>
              <a:gd name="adj" fmla="val 8571"/>
            </a:avLst>
          </a:prstGeom>
          <a:solidFill>
            <a:srgbClr val="0B192C"/>
          </a:solidFill>
          <a:ln w="19050">
            <a:solidFill>
              <a:srgbClr val="0B19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4271" y="3349327"/>
            <a:ext cx="77995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49536" y="3564533"/>
            <a:ext cx="66942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page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4081760"/>
            <a:ext cx="126326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The answer returns the same way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35200" y="3103860"/>
            <a:ext cx="1397000" cy="889000"/>
          </a:xfrm>
          <a:prstGeom prst="roundRect">
            <a:avLst>
              <a:gd name="adj" fmla="val 8571"/>
            </a:avLst>
          </a:prstGeom>
          <a:solidFill>
            <a:srgbClr val="FFF4DD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34642" y="3257848"/>
            <a:ext cx="79801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Sign-in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317750" y="3473053"/>
            <a:ext cx="12319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+ XSUAA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11600" y="2468860"/>
            <a:ext cx="1587500" cy="2159000"/>
          </a:xfrm>
          <a:prstGeom prst="roundRect">
            <a:avLst>
              <a:gd name="adj" fmla="val 4800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85543" y="2983607"/>
            <a:ext cx="103961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Agent app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94150" y="3198813"/>
            <a:ext cx="1422400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8E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on Cloud Foundry.</a:t>
            </a:r>
            <a:endParaRPr lang="en-US" sz="12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8E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calls the servers, checks the answer.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4700" y="2468860"/>
            <a:ext cx="1714500" cy="889000"/>
          </a:xfrm>
          <a:prstGeom prst="roundRect">
            <a:avLst>
              <a:gd name="adj" fmla="val 8571"/>
            </a:avLst>
          </a:prstGeom>
          <a:solidFill>
            <a:srgbClr val="FFFEFB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78637" y="2714327"/>
            <a:ext cx="126662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Policy server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11106" y="2929533"/>
            <a:ext cx="80158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RAG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4700" y="3738860"/>
            <a:ext cx="1714500" cy="889000"/>
          </a:xfrm>
          <a:prstGeom prst="roundRect">
            <a:avLst>
              <a:gd name="adj" fmla="val 8571"/>
            </a:avLst>
          </a:prstGeom>
          <a:solidFill>
            <a:srgbClr val="FFFEFB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37250" y="3889375"/>
            <a:ext cx="1549400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Northwind server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92441" y="4294386"/>
            <a:ext cx="103901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live 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23200" y="3738860"/>
            <a:ext cx="1270000" cy="889000"/>
          </a:xfrm>
          <a:prstGeom prst="roundRect">
            <a:avLst>
              <a:gd name="adj" fmla="val 8571"/>
            </a:avLst>
          </a:prstGeom>
          <a:solidFill>
            <a:srgbClr val="FFFEFB"/>
          </a:solidFill>
          <a:ln w="19050">
            <a:solidFill>
              <a:srgbClr val="0B19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77783" y="3892848"/>
            <a:ext cx="96073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service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05750" y="4108053"/>
            <a:ext cx="11049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rules per user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47200" y="2316460"/>
            <a:ext cx="2032000" cy="2463800"/>
          </a:xfrm>
          <a:prstGeom prst="roundRect">
            <a:avLst>
              <a:gd name="adj" fmla="val 4375"/>
            </a:avLst>
          </a:prstGeom>
          <a:solidFill>
            <a:srgbClr val="E3F1E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4200" y="2468860"/>
            <a:ext cx="1778000" cy="889000"/>
          </a:xfrm>
          <a:prstGeom prst="roundRect">
            <a:avLst>
              <a:gd name="adj" fmla="val 8571"/>
            </a:avLst>
          </a:prstGeom>
          <a:solidFill>
            <a:srgbClr val="FFFEFB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85958" y="2714327"/>
            <a:ext cx="95438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774436" y="2929533"/>
            <a:ext cx="117752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documents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474200" y="343406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HANA Cloud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74200" y="3738860"/>
            <a:ext cx="1778000" cy="889000"/>
          </a:xfrm>
          <a:prstGeom prst="roundRect">
            <a:avLst>
              <a:gd name="adj" fmla="val 8571"/>
            </a:avLst>
          </a:prstGeom>
          <a:solidFill>
            <a:srgbClr val="FFFEFB"/>
          </a:solidFill>
          <a:ln w="19050">
            <a:solidFill>
              <a:srgbClr val="0B19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93573" y="3984327"/>
            <a:ext cx="133925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tables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926935" y="4199533"/>
            <a:ext cx="87243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stock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35200" y="4856460"/>
            <a:ext cx="9017000" cy="508000"/>
          </a:xfrm>
          <a:prstGeom prst="roundRect">
            <a:avLst>
              <a:gd name="adj" fmla="val 12500"/>
            </a:avLst>
          </a:prstGeom>
          <a:solidFill>
            <a:srgbClr val="FFFEFB"/>
          </a:solidFill>
          <a:ln w="12700">
            <a:solidFill>
              <a:srgbClr val="0B192C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2374900" y="4907260"/>
            <a:ext cx="886866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every step: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role collections decide who may see what · the Destination service holds addresses and keys · every answer is written to an audit table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55800" y="3548360"/>
            <a:ext cx="2794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632200" y="3548360"/>
            <a:ext cx="2794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triangl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99100" y="2913360"/>
            <a:ext cx="3556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569200" y="2913360"/>
            <a:ext cx="19050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499100" y="4183360"/>
            <a:ext cx="3556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triangl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569200" y="4183360"/>
            <a:ext cx="2540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093200" y="4183360"/>
            <a:ext cx="3810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triangl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705350" y="2049760"/>
            <a:ext cx="0" cy="41910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triangl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12800" y="611901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812800" y="6207919"/>
            <a:ext cx="102949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retrieval-augmented generation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Authorization and Trust Management service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1209635" y="620791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six steps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65685"/>
          <a:ext cx="10566400" cy="914400"/>
        </p:xfrm>
        <a:graphic>
          <a:graphicData uri="http://schemas.openxmlformats.org/drawingml/2006/table">
            <a:tbl>
              <a:tblPr/>
              <a:tblGrid>
                <a:gridCol w="844748"/>
                <a:gridCol w="2111970"/>
                <a:gridCol w="7603331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 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App Router sends the employee to XSUAA, which returns a signed token.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question and the token reach the agent app.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policy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Policy server searches the vector store, filtered by the employee's audience.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facts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Northwind server reads orders and stock through the CAP service, filtered by role.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agent sends the question and the evidence, and nothing else, to Claude.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and answer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agent checks citations and limits, writes the audit entry, then replies.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Authorization and Trust Management service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 the architecture encodes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63180"/>
            <a:ext cx="3386634" cy="2431951"/>
          </a:xfrm>
          <a:prstGeom prst="roundRect">
            <a:avLst>
              <a:gd name="adj" fmla="val 3656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9500" y="2529880"/>
            <a:ext cx="285323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79500" y="3088680"/>
            <a:ext cx="2896032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talks only to the agent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3708400"/>
            <a:ext cx="289603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reaches the documents, the database or the model directly.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2263180"/>
            <a:ext cx="3386634" cy="2431951"/>
          </a:xfrm>
          <a:prstGeom prst="roundRect">
            <a:avLst>
              <a:gd name="adj" fmla="val 3656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9334" y="2529880"/>
            <a:ext cx="285323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69334" y="3088680"/>
            <a:ext cx="2896032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 decided where the data lives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9334" y="3708400"/>
            <a:ext cx="2896032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server filters documents by audience. The CAP service filters rows by user.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467" y="2263180"/>
            <a:ext cx="3386634" cy="2431951"/>
          </a:xfrm>
          <a:prstGeom prst="roundRect">
            <a:avLst>
              <a:gd name="adj" fmla="val 3656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59167" y="2529880"/>
            <a:ext cx="285323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259167" y="3088680"/>
            <a:ext cx="2896032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explains; it does not act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59167" y="3708400"/>
            <a:ext cx="2896032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tools, no approvals, and a policy source cited in every answer.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4923730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 proves who the user is. It does not decide what they may see. Rule 2 does that.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TO 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hypotheses we will test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208312"/>
          <a:ext cx="10566400" cy="914400"/>
        </p:xfrm>
        <a:graphic>
          <a:graphicData uri="http://schemas.openxmlformats.org/drawingml/2006/table">
            <a:tbl>
              <a:tblPr/>
              <a:tblGrid>
                <a:gridCol w="844748"/>
                <a:gridCol w="7180858"/>
                <a:gridCol w="2534444"/>
              </a:tblGrid>
              <a:tr h="3833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Without grounding, the model invents order facts.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for facts plus retrieval for policy beat either one alone.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Labs 2, 3 and 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decided at the data layer holds even when the prompt is attacked.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Labs 4 and 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618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 filters keep superseded and unapproved documents out of answers.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assistant says that it does not know when the evidence is missing.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Labs 5 and 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978499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state these before building, so that the labs are experiments and not demonstrations. We return to them at the end.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448719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804319"/>
            <a:ext cx="889000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Technologies, labs and evidence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568799"/>
            <a:ext cx="773430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learn, in the order a request meets it, and how we will know that it works.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33465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going to 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04070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7900" y="1769170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77900" y="1985070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Foundry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7900" y="2251770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our five applications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82975" y="1604070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48075" y="1769170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48075" y="1985070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+ XSUAA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48075" y="2251770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signed tokens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53150" y="1604070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8250" y="1769170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18250" y="1985070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18250" y="2251770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as explicit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325" y="1604070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88425" y="1769170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88425" y="1985070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88425" y="2251770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retriever parts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2754015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900" y="2919115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77900" y="3135015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7900" y="3401715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tool interface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82975" y="2754015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48075" y="2919115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48075" y="3135015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Python SDK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648075" y="3401715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two servers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53150" y="2754015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18250" y="2919115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18250" y="3135015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+ OData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318250" y="3401715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service, row rules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23325" y="2754015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88425" y="2919115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988425" y="3135015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 vector engine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988425" y="3401715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and searches policy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2800" y="3903960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7900" y="4069060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77900" y="4284960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77900" y="4551660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text into vectors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482975" y="3903960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48075" y="4069060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648075" y="4284960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3648075" y="4551660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from passages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53150" y="3903960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18250" y="4069060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318250" y="4284960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318250" y="4551660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and drafting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823325" y="3903960"/>
            <a:ext cx="2555875" cy="1035645"/>
          </a:xfrm>
          <a:prstGeom prst="roundRect">
            <a:avLst>
              <a:gd name="adj" fmla="val 8584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88425" y="4069060"/>
            <a:ext cx="2225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988425" y="4284960"/>
            <a:ext cx="222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service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988425" y="4551660"/>
            <a:ext cx="2225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keys out of code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12800" y="5104705"/>
            <a:ext cx="105664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along the path a request takes. Each has its own page in the appendix.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12800" y="611901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 txBox="1"/>
          <p:nvPr/>
        </p:nvSpPr>
        <p:spPr>
          <a:xfrm>
            <a:off x="812800" y="6207919"/>
            <a:ext cx="102949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Authorization and Trust Management service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 development kit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Data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retrieval-augmented generation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1209635" y="620791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APIs we will call, and why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07158"/>
          <a:ext cx="10566400" cy="914400"/>
        </p:xfrm>
        <a:graphic>
          <a:graphicData uri="http://schemas.openxmlformats.org/drawingml/2006/table">
            <a:tbl>
              <a:tblPr/>
              <a:tblGrid>
                <a:gridCol w="3801566"/>
                <a:gridCol w="2323207"/>
                <a:gridCol w="4435277"/>
              </a:tblGrid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Called by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Messages API, through the hub or directly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Reasoning, choosing a tool, drafting the answer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HANA Cloud SQL, with VECTOR_EMBEDDING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server, loader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and search policy vectors; create embeddings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CAP OData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Northwind 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Orders, stock and suppliers, filtered by 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MCP: tools/list and tools/call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standard way to discover and call tools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XSUAA, using OAuth 2.0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application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Sign-in, token checks, roles and attributes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Destination service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and servers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 up addresses and keys at run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embeddings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Loader, as a fallback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VECTOR_EMBEDDING is unavailable; Claude makes no embeddings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5005983"/>
            <a:ext cx="105664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Libraries, not web APIs: LangChain, LangGraph, langchain-hana, langchain-mcp-adapters, pdfplumber.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12800" y="5920978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 txBox="1"/>
          <p:nvPr/>
        </p:nvSpPr>
        <p:spPr>
          <a:xfrm>
            <a:off x="812800" y="6009878"/>
            <a:ext cx="1029497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Structured Query Language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Data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Authorization and Trust Management service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standard for delegated sign-in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209635" y="6009878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labs, one element each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99469"/>
          <a:ext cx="10566400" cy="914400"/>
        </p:xfrm>
        <a:graphic>
          <a:graphicData uri="http://schemas.openxmlformats.org/drawingml/2006/table">
            <a:tbl>
              <a:tblPr/>
              <a:tblGrid>
                <a:gridCol w="844748"/>
                <a:gridCol w="2956719"/>
                <a:gridCol w="6758583"/>
              </a:tblGrid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 taught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build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foundation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account, roles, SAP HANA Cloud, Northwind loaded, destinations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grounding matters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bare Claude call; watch it invent an order 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the 11 policy documents; retrieve with citations and filters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tool, get_order_status, over the CAP service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users, the same question, different rows and documents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servers in one LangGraph workflow, with an answer check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Adversarial testing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superseded policy, a conflicting memo, an injected email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33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and operations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the 32 questions; read the audit table; count the cost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6680" marR="106680" marT="62230" marB="6223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611901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 txBox="1"/>
          <p:nvPr/>
        </p:nvSpPr>
        <p:spPr>
          <a:xfrm>
            <a:off x="812800" y="6207919"/>
            <a:ext cx="102949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retrieval-augmented generation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209635" y="620791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144812"/>
            <a:ext cx="2527300" cy="2217241"/>
          </a:xfrm>
          <a:prstGeom prst="roundRect">
            <a:avLst>
              <a:gd name="adj" fmla="val 400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700" y="2360712"/>
            <a:ext cx="20955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028700" y="3021112"/>
            <a:ext cx="209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orders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3300512"/>
            <a:ext cx="2126933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77 products and 91 customers, loaded into SAP HANA Cloud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2500" y="2144812"/>
            <a:ext cx="2527300" cy="2217241"/>
          </a:xfrm>
          <a:prstGeom prst="roundRect">
            <a:avLst>
              <a:gd name="adj" fmla="val 400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8400" y="2360712"/>
            <a:ext cx="20955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708400" y="3021112"/>
            <a:ext cx="209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documents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08400" y="3300512"/>
            <a:ext cx="2126933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text files and 4 PDF files: policies, account notes, a runbook, a glossary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144812"/>
            <a:ext cx="2527300" cy="2217241"/>
          </a:xfrm>
          <a:prstGeom prst="roundRect">
            <a:avLst>
              <a:gd name="adj" fmla="val 400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8100" y="2360712"/>
            <a:ext cx="20955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388100" y="3021112"/>
            <a:ext cx="21269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documents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88100" y="3529112"/>
            <a:ext cx="2126933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superseded policy, a conflicting memo, an email with an injection attempt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900" y="2144812"/>
            <a:ext cx="2527300" cy="2217241"/>
          </a:xfrm>
          <a:prstGeom prst="roundRect">
            <a:avLst>
              <a:gd name="adj" fmla="val 4009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67800" y="2360712"/>
            <a:ext cx="20955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9067800" y="3021112"/>
            <a:ext cx="209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questions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67800" y="3300512"/>
            <a:ext cx="212693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with its expected tool calls, sources and answer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4590653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rule: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numbers live in tables, rules live in documents. One memo breaks the rule on purpose, so that you can catch it.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800" y="5059263"/>
            <a:ext cx="105664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Northwind dates are shifted forward by 28 years. The labs use a fixed today of Thursday 7 May 2026.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Portable Document Format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know that it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024559"/>
            <a:ext cx="5105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CHECKS ON EVERY ANSWER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278559"/>
            <a:ext cx="5105400" cy="723801"/>
          </a:xfrm>
          <a:prstGeom prst="roundRect">
            <a:avLst>
              <a:gd name="adj" fmla="val 12282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2500" y="2418259"/>
            <a:ext cx="48260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match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2500" y="2656979"/>
            <a:ext cx="48260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figures equal the expected answer.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078559"/>
            <a:ext cx="5105400" cy="723801"/>
          </a:xfrm>
          <a:prstGeom prst="roundRect">
            <a:avLst>
              <a:gd name="adj" fmla="val 12282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2500" y="3218259"/>
            <a:ext cx="48260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cited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52500" y="3456980"/>
            <a:ext cx="48260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expected policy documents are named.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878560"/>
            <a:ext cx="5105400" cy="723801"/>
          </a:xfrm>
          <a:prstGeom prst="roundRect">
            <a:avLst>
              <a:gd name="adj" fmla="val 12282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2500" y="4018260"/>
            <a:ext cx="48260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called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52500" y="4256980"/>
            <a:ext cx="48260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expected tool calls were made.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4678561"/>
            <a:ext cx="5105400" cy="723801"/>
          </a:xfrm>
          <a:prstGeom prst="roundRect">
            <a:avLst>
              <a:gd name="adj" fmla="val 12282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2500" y="4818261"/>
            <a:ext cx="48260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forbidden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52500" y="5056981"/>
            <a:ext cx="48260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guess, restricted figure, approval or injected text.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73800" y="2024559"/>
            <a:ext cx="5105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32 QUESTIONS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3800" y="2278559"/>
          <a:ext cx="5105400" cy="914400"/>
        </p:xfrm>
        <a:graphic>
          <a:graphicData uri="http://schemas.openxmlformats.org/drawingml/2006/table">
            <a:tbl>
              <a:tblPr/>
              <a:tblGrid>
                <a:gridCol w="3875187"/>
                <a:gridCol w="1223863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Kind of question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only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only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and retrieval combined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Abstain, or refuse an action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control and stale data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Robustness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hypotheses, revisited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73362"/>
          <a:ext cx="10566400" cy="914400"/>
        </p:xfrm>
        <a:graphic>
          <a:graphicData uri="http://schemas.openxmlformats.org/drawingml/2006/table">
            <a:tbl>
              <a:tblPr/>
              <a:tblGrid>
                <a:gridCol w="844748"/>
                <a:gridCol w="6547247"/>
                <a:gridCol w="3168055"/>
              </a:tblGrid>
              <a:tr h="3833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Without grounding, the model invents order facts.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[fill in after Lab 7]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for facts plus retrieval for policy beat either one alone.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[fill in after Lab 7]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618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decided at the data layer holds even when the prompt is attacked.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[fill in after Lab 7]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618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 filters keep superseded and unapproved documents out of answers.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[fill in after Lab 7]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618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assistant says that it does not know when the evidence is missing.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[fill in after Lab 7]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71120" marB="71120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5213449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evidence for each: the evaluation questions that passed or failed, and what you changed to fix a failure.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COURSE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Northwind to your SAP landscape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193230"/>
          <a:ext cx="10566400" cy="914400"/>
        </p:xfrm>
        <a:graphic>
          <a:graphicData uri="http://schemas.openxmlformats.org/drawingml/2006/table">
            <a:tbl>
              <a:tblPr/>
              <a:tblGrid>
                <a:gridCol w="4857552"/>
                <a:gridCol w="5702498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the lab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your SAP landscape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Northwind tables behind a CAP service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Released S/4HANA APIs behind the same destination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rules written in CAP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S/4HANA authorizations, with the user's identity passed through¹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through the hub, or directly on a trial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Generative AI Hub in SAP AI Core, for everyone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table in SAP HANA Cloud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Audit Log service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trial subaccount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development, test and production subaccounts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66675" marB="6667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561780"/>
            <a:ext cx="105664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stays the same: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agent, the two MCP interfaces, the documents, and the evaluation set.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2800" y="5920978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 txBox="1"/>
          <p:nvPr/>
        </p:nvSpPr>
        <p:spPr>
          <a:xfrm>
            <a:off x="812800" y="6009878"/>
            <a:ext cx="1029497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ERP suite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Known as principal propagation: the backend checks the real user, not a technical account.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209635" y="6009878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977529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333129"/>
            <a:ext cx="9667875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AI on BTP is clean-core engineering applied to a new kind of extension.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4019451"/>
            <a:ext cx="837882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interfaces to the data. Access decided where the data lives. Evidence behind every answer.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33465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448719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804319"/>
            <a:ext cx="889000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technologies, one page each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568799"/>
            <a:ext cx="773430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answers the same questions: what it is, why we need it here, where it sits, the call you will write, and the common mistake.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33465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Foundry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32598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5458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runtime of BTP. You push source code; the platform builds it, runs it and gives it an address.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340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46263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hosts our five applications: the App Router, the agent, the two MCP servers and the CAP service.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14208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37068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the trial limits. Applications stop every night, and all five must fit in 4 gigabytes of memory.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32598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554585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Underneath everything inside the BTP boundary.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976860"/>
            <a:ext cx="5080000" cy="1282700"/>
          </a:xfrm>
          <a:prstGeom prst="roundRect">
            <a:avLst>
              <a:gd name="adj" fmla="val 6931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154660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395960"/>
            <a:ext cx="474370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push agent-app -m 512M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logs agent-app --recent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restart agent-app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and XSUAA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3053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33948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Router is the single entry point. XSUAA signs the user in and issues a signed token, a JWT, that carries roles and attributes.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4705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699173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later check depends on knowing who is asking. The token travels with the question to the agent and the servers.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7862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607223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sign-in as authorization. A valid token does not decide which rows or documents a user may see.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3053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533948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1, between the employee and the agent.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956223"/>
            <a:ext cx="5080000" cy="1739900"/>
          </a:xfrm>
          <a:prstGeom prst="roundRect">
            <a:avLst>
              <a:gd name="adj" fmla="val 5109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134023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375323"/>
            <a:ext cx="4743704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sap import xssec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= xssec.create_security_context(token, uaa)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ctx.check_scope("advisor.read"):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deny()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= ctx.get_attribute("office")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Authorization and Trust Management service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JSON Web Token, a signed proof of identity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3053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33948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 library for writing an agent as an explicit graph of steps that share one state.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1339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441998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safety steps become visible, testable nodes: authorize, retrieve, call a tool, draft, check the answer.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1214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350048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every step deterministic. Rule checks are. Model-based checks, such as spotting an injection, are not, so they cannot be the last line of defence.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3053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533948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2. It is the agent app.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956223"/>
            <a:ext cx="5080000" cy="1968500"/>
          </a:xfrm>
          <a:prstGeom prst="roundRect">
            <a:avLst>
              <a:gd name="adj" fmla="val 4516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134023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375323"/>
            <a:ext cx="474370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StateGraph(State)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g.add_node("retrieve", retrieve)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g.add_node("draft", draft)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g.add_node("check", check_answer)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g.add_edge("retrieve", "draft")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g.compile()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No acronyms or footnotes on this slide.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4339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66253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 library of building blocks: chat model clients, retrievers, document loaders and tool wrappers.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34198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57058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gives us the Claude client, the SAP HANA Cloud retriever and tool binding without hand-written plumbing.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2500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47863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a ready-made agent run free. We use the parts and keep the control flow in LangGraph.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4339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662535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agent app and the Policy server.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3084810"/>
            <a:ext cx="5080000" cy="1282700"/>
          </a:xfrm>
          <a:prstGeom prst="roundRect">
            <a:avLst>
              <a:gd name="adj" fmla="val 6931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262610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503910"/>
            <a:ext cx="474370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ChatAnthropic(model=MODEL_ID)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llm.bind_tools(tools)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llm.invoke(messages)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4339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66253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 protocol for offering tools to AI applications. A server lists its tools with typed inputs; a client calls them.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34198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57058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governed, reusable interface. The same two servers could serve a second assistant later without change.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2500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47863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Enforcing limits in the prompt. Limits belong inside the server: a fixed tool list, input checks and a user check.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4339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662535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3 and 4, between the agent and the two servers.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3084810"/>
            <a:ext cx="5080000" cy="1739900"/>
          </a:xfrm>
          <a:prstGeom prst="roundRect">
            <a:avLst>
              <a:gd name="adj" fmla="val 5109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262610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503910"/>
            <a:ext cx="4743704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tools/list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get_order_status(order_id: int)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tools/call get_order_status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 {"order_id": 11019}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{"status": "not shipped", ...}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Python SDK and adapters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2894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8073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FastMCP, from the MCP Python SDK, turns a Python function into an MCP tool. The langchain-mcp-adapters package turns MCP tools into LangChain tools.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45469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683298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server is about twenty lines, and the agent discovers the tools when it starts.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627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591348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Exposing generic tools such as run any query. Name each tool after one business question.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2894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518073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both MCP servers, and in the agent as the client.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940348"/>
            <a:ext cx="5080000" cy="2197100"/>
          </a:xfrm>
          <a:prstGeom prst="roundRect">
            <a:avLst>
              <a:gd name="adj" fmla="val 4046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118148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359448"/>
            <a:ext cx="4743704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FastMCP("northwind")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get_order_status(order_id: int) -&gt; dict: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return read_order(order_id)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mcp.run(transport="streamable-http")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 development kit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and OData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19739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5998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SAP's framework for data services. You model entities in CDS and receive an OData service, with authorization rules declared beside the model.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36262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591223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stands in for a released SAP API, and it filters rows for each user before anything reaches the MCP server.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2706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499273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the row rules into the MCP server. Keep them in one place, the data service.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19739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425998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4, between the Northwind server and the tables.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848273"/>
            <a:ext cx="5080000" cy="1968500"/>
          </a:xfrm>
          <a:prstGeom prst="roundRect">
            <a:avLst>
              <a:gd name="adj" fmla="val 4516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026073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267373"/>
            <a:ext cx="474370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Orders @(restrict: [{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grant: 'READ',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where: 'ShipCountry = $user.country'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}]) as projection on db.Orders;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/odata/v4/northwind/Orders(11019)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11901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207919"/>
            <a:ext cx="102949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Data Protocol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Data Services, CAP's modelling language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Context Protocol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20791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HANA Cloud vector engine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0481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76773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column type and similarity functions inside SAP HANA Cloud. The langchain-hana package wraps it as a vector store.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1339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441998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passages and their metadata sit beside the Northwind tables: one database to secure, back up and audit.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7862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607223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after the search. Apply the status and audience filters inside the query, so restricted text never leaves the store.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0481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276773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3, behind the Policy server.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699048"/>
            <a:ext cx="5080000" cy="1968500"/>
          </a:xfrm>
          <a:prstGeom prst="roundRect">
            <a:avLst>
              <a:gd name="adj" fmla="val 4516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2876848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118148"/>
            <a:ext cx="474370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HanaDB(connection=conn,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embedding=emb,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table_name="POLICY_CHUNKS")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hits = db.similarity_search(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question, k=4,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filter={"status": "current"})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176760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05360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of numbers that represent meaning. Texts with similar meaning get vectors that lie close together.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084810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313410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does not create embeddings, so a second model is needed. SAP HANA Cloud's built-in function keeps the text inside the database.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2500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478635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one model for documents and another for questions. The vectors are then not comparable. Re-embed everything when the model changes.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176760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405360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loader, and in the Policy server for each question.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827635"/>
            <a:ext cx="5080000" cy="1282700"/>
          </a:xfrm>
          <a:prstGeom prst="roundRect">
            <a:avLst>
              <a:gd name="adj" fmla="val 6931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005435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246735"/>
            <a:ext cx="474370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VECTOR_EMBEDDING(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:question, 'QUERY', :model_id)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DUMMY;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3053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33948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question time, retrieve the most relevant passages and give them to the model with an instruction to answer only from them and to cite them.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4705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699173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change. Retrieval keeps answers current and traceable to a document version, with no retraining.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7862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607223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the database tables. Structured facts belong behind tools; RAG is for documents.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3053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533948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3. The Policy server and the vector store together.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99200" y="295622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STAGES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9200" y="3222923"/>
            <a:ext cx="719733" cy="279400"/>
          </a:xfrm>
          <a:prstGeom prst="roundRect">
            <a:avLst>
              <a:gd name="adj" fmla="val 50000"/>
            </a:avLst>
          </a:prstGeom>
          <a:solidFill>
            <a:srgbClr val="E3F1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3500" y="3273723"/>
            <a:ext cx="49113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95133" y="3222923"/>
            <a:ext cx="1744563" cy="279400"/>
          </a:xfrm>
          <a:prstGeom prst="roundRect">
            <a:avLst>
              <a:gd name="adj" fmla="val 50000"/>
            </a:avLst>
          </a:prstGeom>
          <a:solidFill>
            <a:srgbClr val="E3F1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09433" y="3273723"/>
            <a:ext cx="151596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Split into passages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5896" y="3222923"/>
            <a:ext cx="863798" cy="279400"/>
          </a:xfrm>
          <a:prstGeom prst="roundRect">
            <a:avLst>
              <a:gd name="adj" fmla="val 50000"/>
            </a:avLst>
          </a:prstGeom>
          <a:solidFill>
            <a:srgbClr val="E3F1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30196" y="3273723"/>
            <a:ext cx="635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Embed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55895" y="3222923"/>
            <a:ext cx="957263" cy="279400"/>
          </a:xfrm>
          <a:prstGeom prst="roundRect">
            <a:avLst>
              <a:gd name="adj" fmla="val 50000"/>
            </a:avLst>
          </a:prstGeom>
          <a:solidFill>
            <a:srgbClr val="E3F1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70195" y="3273723"/>
            <a:ext cx="72866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Retrieve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9200" y="3578523"/>
            <a:ext cx="1874540" cy="279400"/>
          </a:xfrm>
          <a:prstGeom prst="roundRect">
            <a:avLst>
              <a:gd name="adj" fmla="val 50000"/>
            </a:avLst>
          </a:prstGeom>
          <a:solidFill>
            <a:srgbClr val="E3F1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3500" y="3629323"/>
            <a:ext cx="164594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Answer with sources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99200" y="3946823"/>
            <a:ext cx="515620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loader runs stages 1 to 3 once per document version. Stages 4 and 5 run for every question.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retrieval-augmented generation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and the Messages API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0481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76773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API for Claude. You send system instructions, the conversation and tool definitions; you receive text or a request to call a tool.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1339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441998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chooses which tool to call, reads the evidence and drafts the cited answer. It holds no credentials and reaches no data itself.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7862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607223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more than the answer needs. The request leaves BTP, so send only the retrieved passages and the tool results.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0481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276773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5, outside the BTP boundary. Reached through the Generative AI Hub where your account has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956223"/>
            <a:ext cx="5080000" cy="1739900"/>
          </a:xfrm>
          <a:prstGeom prst="roundRect">
            <a:avLst>
              <a:gd name="adj" fmla="val 5109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134023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375323"/>
            <a:ext cx="4743704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client.messages.create(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model=MODEL_ID, max_tokens=1024,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system=RULES,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messages=msgs,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tools=tool_specs)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service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32598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5458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BTP service that stores the address and credentials of a remote system under a name.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3403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46263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holds the address of the CAP service, and the address and key of the Claude API. Nothing secret sits in code.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14208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370685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an API key in an environment file that is then committed to the source repository.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325985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554585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every outbound call from the agent and the servers.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976860"/>
            <a:ext cx="5080000" cy="1282700"/>
          </a:xfrm>
          <a:prstGeom prst="roundRect">
            <a:avLst>
              <a:gd name="adj" fmla="val 6931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154660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395960"/>
            <a:ext cx="474370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/destination-configuration/v1/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destinations/CLAUDE_API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&lt;service token&gt;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Cloud Application Programming Model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3053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33948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record for every answer: who asked, which documents were retrieved, which tools ran, and the outcome.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1339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441998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lets a reviewer reconstruct any answer, and it supplies the evidence for Lab 7. In production, the SAP Audit Log service takes this role.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7862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607223"/>
            <a:ext cx="515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whole prompts with business data in them. Store identifiers, not content.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30534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533948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the agent at step 6, into SAP HANA Cloud.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956223"/>
            <a:ext cx="5080000" cy="1511300"/>
          </a:xfrm>
          <a:prstGeom prst="roundRect">
            <a:avLst>
              <a:gd name="adj" fmla="val 5882"/>
            </a:avLst>
          </a:prstGeom>
          <a:solidFill>
            <a:srgbClr val="0B19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2400" y="3134023"/>
            <a:ext cx="4673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YOU WILL WRITE (SKETCH)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375323"/>
            <a:ext cx="4743704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AUDIT_EVENTS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(AT, USER_ID, QUESTION_ID,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 DOC_IDS, TOOLS, OUTCOME)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(...);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SAP's in-memory database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Hub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0481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76773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SAP AI Core. It gives governed access to models from several providers, Claude among them, with optional data masking and content filtering.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13398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441998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BTP account includes SAP AI Core with the extended plan, use it for step 5: the model call then stays under SAP's governance. Trial accounts do not offer it.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7862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607223"/>
            <a:ext cx="5156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the track changes the design. Only the model client changes; the agent, servers and documents stay as they are.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048173"/>
            <a:ext cx="508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9200" y="2276773"/>
            <a:ext cx="508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5, inside the BTP boundary, in front of Claude.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9200" y="2699048"/>
            <a:ext cx="2286000" cy="1422202"/>
          </a:xfrm>
          <a:prstGeom prst="roundRect">
            <a:avLst>
              <a:gd name="adj" fmla="val 6251"/>
            </a:avLst>
          </a:prstGeom>
          <a:solidFill>
            <a:srgbClr val="FFFEFB"/>
          </a:solidFill>
          <a:ln w="1270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300" y="2864148"/>
            <a:ext cx="1955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TRACK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300" y="3080048"/>
            <a:ext cx="198513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API, called directly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64300" y="3544788"/>
            <a:ext cx="198513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is held in the Destination service.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61400" y="3410148"/>
            <a:ext cx="355600" cy="0"/>
          </a:xfrm>
          <a:prstGeom prst="line">
            <a:avLst/>
          </a:prstGeom>
          <a:noFill/>
          <a:ln w="19050">
            <a:solidFill>
              <a:srgbClr val="0B192C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93200" y="2699048"/>
            <a:ext cx="2286000" cy="1422202"/>
          </a:xfrm>
          <a:prstGeom prst="roundRect">
            <a:avLst>
              <a:gd name="adj" fmla="val 6251"/>
            </a:avLst>
          </a:prstGeom>
          <a:solidFill>
            <a:srgbClr val="E3F1E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58300" y="2864148"/>
            <a:ext cx="1955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ENTITLED TRACK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58300" y="3080048"/>
            <a:ext cx="19558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Hub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58300" y="3331468"/>
            <a:ext cx="198513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door to several model providers.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99200" y="4222849"/>
            <a:ext cx="515620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check: BTP cockpit, Entitlements, SAP AI Core, plan extended. SAP also runs a separate 30-day trial of the hub.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Business Technology Platform  · 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programming interface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9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0566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01700"/>
            <a:ext cx="1056640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of acronyms</a:t>
            </a:r>
            <a:endParaRPr lang="en-US" sz="2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27312"/>
          <a:ext cx="5156200" cy="914400"/>
        </p:xfrm>
        <a:graphic>
          <a:graphicData uri="http://schemas.openxmlformats.org/drawingml/2006/table">
            <a:tbl>
              <a:tblPr/>
              <a:tblGrid>
                <a:gridCol w="1338957"/>
                <a:gridCol w="3810893"/>
              </a:tblGrid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Business Technology 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artificial intelligence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retrieval-augmented generation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Context Protocol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programming interface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resource planning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S/4HANA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SAP's ERP suite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SAP's in-memory 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XSUAA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Authorization and Trust Management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Web Token, a signed proof of identity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0" y="1827312"/>
          <a:ext cx="5156200" cy="914400"/>
        </p:xfrm>
        <a:graphic>
          <a:graphicData uri="http://schemas.openxmlformats.org/drawingml/2006/table">
            <a:tbl>
              <a:tblPr/>
              <a:tblGrid>
                <a:gridCol w="1338957"/>
                <a:gridCol w="3810893"/>
              </a:tblGrid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standard for delegated sign-in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Cloud Application Programming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Data Services, CAP's modelling language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Data Protocol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Query Language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development kit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integration and delivery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Portable Document Format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  <a:tr h="31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9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gigabytes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060" marR="99060" marT="57785" marB="57785" anchor="t">
                    <a:lnL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12800" y="6317059"/>
            <a:ext cx="10566400" cy="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  <a:headEnd type="none"/>
            <a:tailEnd type="none"/>
          </a:ln>
        </p:spPr>
      </p:sp>
      <p:sp>
        <p:nvSpPr>
          <p:cNvPr id="7" name="Text 3"/>
          <p:cNvSpPr txBox="1"/>
          <p:nvPr/>
        </p:nvSpPr>
        <p:spPr>
          <a:xfrm>
            <a:off x="812800" y="6405959"/>
            <a:ext cx="10142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This page is the full legend for the deck. Each slide repeats only the terms it uses.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209635" y="6405959"/>
            <a:ext cx="169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AI on SAP BTP</dc:title>
  <dc:subject>PptxGenJS Presentation</dc:subject>
  <dc:creator>Rajkumar Rajagobalan</dc:creator>
  <cp:lastModifiedBy>Rajkumar Rajagobalan</cp:lastModifiedBy>
  <cp:revision>1</cp:revision>
  <dcterms:created xsi:type="dcterms:W3CDTF">2026-09-17T10:39:09Z</dcterms:created>
  <dcterms:modified xsi:type="dcterms:W3CDTF">2026-09-17T10:39:09Z</dcterms:modified>
</cp:coreProperties>
</file>